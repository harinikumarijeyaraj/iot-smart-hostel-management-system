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notesMasterIdLst>
    <p:notesMasterId r:id="rId18"/>
  </p:notesMasterIdLst>
  <p:sldIdLst>
    <p:sldId id="256" r:id="rId2"/>
    <p:sldId id="257" r:id="rId3"/>
    <p:sldId id="258" r:id="rId4"/>
    <p:sldId id="259" r:id="rId5"/>
    <p:sldId id="271" r:id="rId6"/>
    <p:sldId id="260" r:id="rId7"/>
    <p:sldId id="261" r:id="rId8"/>
    <p:sldId id="262" r:id="rId9"/>
    <p:sldId id="263" r:id="rId10"/>
    <p:sldId id="264" r:id="rId11"/>
    <p:sldId id="265" r:id="rId12"/>
    <p:sldId id="269" r:id="rId13"/>
    <p:sldId id="266" r:id="rId14"/>
    <p:sldId id="267" r:id="rId15"/>
    <p:sldId id="270" r:id="rId16"/>
    <p:sldId id="26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EB738B-7656-4201-8BD5-6EE22C7730BE}" v="75" dt="2026-04-21T17:15:39.0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1B6EB1-0982-4433-82C0-B828AD42079B}" type="datetimeFigureOut">
              <a:rPr lang="en-IN" smtClean="0"/>
              <a:t>24-04-2026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931D09-F33A-4B14-A6D8-C24673228FD5}" type="slidenum">
              <a:rPr lang="en-IN" smtClean="0"/>
              <a:t>‹#›</a:t>
            </a:fld>
            <a:endParaRPr lang="en-IN"/>
          </a:p>
        </p:txBody>
      </p:sp>
    </p:spTree>
    <p:extLst>
      <p:ext uri="{BB962C8B-B14F-4D97-AF65-F5344CB8AC3E}">
        <p14:creationId xmlns:p14="http://schemas.microsoft.com/office/powerpoint/2010/main" val="33911589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3931D09-F33A-4B14-A6D8-C24673228FD5}" type="slidenum">
              <a:rPr lang="en-IN" smtClean="0"/>
              <a:t>9</a:t>
            </a:fld>
            <a:endParaRPr lang="en-IN"/>
          </a:p>
        </p:txBody>
      </p:sp>
    </p:spTree>
    <p:extLst>
      <p:ext uri="{BB962C8B-B14F-4D97-AF65-F5344CB8AC3E}">
        <p14:creationId xmlns:p14="http://schemas.microsoft.com/office/powerpoint/2010/main" val="37339490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0B91F09C-E193-4D14-B005-CE9B32A74514}" type="datetimeFigureOut">
              <a:rPr lang="en-IN" smtClean="0"/>
              <a:t>24-04-2026</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460AA2E0-00C5-4C05-94FA-BEA5D674841F}" type="slidenum">
              <a:rPr lang="en-IN" smtClean="0"/>
              <a:t>‹#›</a:t>
            </a:fld>
            <a:endParaRPr lang="en-IN"/>
          </a:p>
        </p:txBody>
      </p:sp>
    </p:spTree>
    <p:extLst>
      <p:ext uri="{BB962C8B-B14F-4D97-AF65-F5344CB8AC3E}">
        <p14:creationId xmlns:p14="http://schemas.microsoft.com/office/powerpoint/2010/main" val="515685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91F09C-E193-4D14-B005-CE9B32A74514}"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0AA2E0-00C5-4C05-94FA-BEA5D674841F}" type="slidenum">
              <a:rPr lang="en-IN" smtClean="0"/>
              <a:t>‹#›</a:t>
            </a:fld>
            <a:endParaRPr lang="en-IN"/>
          </a:p>
        </p:txBody>
      </p:sp>
    </p:spTree>
    <p:extLst>
      <p:ext uri="{BB962C8B-B14F-4D97-AF65-F5344CB8AC3E}">
        <p14:creationId xmlns:p14="http://schemas.microsoft.com/office/powerpoint/2010/main" val="3423830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B91F09C-E193-4D14-B005-CE9B32A74514}"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0AA2E0-00C5-4C05-94FA-BEA5D674841F}" type="slidenum">
              <a:rPr lang="en-IN" smtClean="0"/>
              <a:t>‹#›</a:t>
            </a:fld>
            <a:endParaRPr lang="en-IN"/>
          </a:p>
        </p:txBody>
      </p:sp>
    </p:spTree>
    <p:extLst>
      <p:ext uri="{BB962C8B-B14F-4D97-AF65-F5344CB8AC3E}">
        <p14:creationId xmlns:p14="http://schemas.microsoft.com/office/powerpoint/2010/main" val="2629488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B91F09C-E193-4D14-B005-CE9B32A74514}"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0AA2E0-00C5-4C05-94FA-BEA5D674841F}" type="slidenum">
              <a:rPr lang="en-IN" smtClean="0"/>
              <a:t>‹#›</a:t>
            </a:fld>
            <a:endParaRPr lang="en-IN"/>
          </a:p>
        </p:txBody>
      </p:sp>
    </p:spTree>
    <p:extLst>
      <p:ext uri="{BB962C8B-B14F-4D97-AF65-F5344CB8AC3E}">
        <p14:creationId xmlns:p14="http://schemas.microsoft.com/office/powerpoint/2010/main" val="11993973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B91F09C-E193-4D14-B005-CE9B32A74514}" type="datetimeFigureOut">
              <a:rPr lang="en-IN" smtClean="0"/>
              <a:t>24-04-2026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60AA2E0-00C5-4C05-94FA-BEA5D674841F}" type="slidenum">
              <a:rPr lang="en-IN" smtClean="0"/>
              <a:t>‹#›</a:t>
            </a:fld>
            <a:endParaRPr lang="en-IN"/>
          </a:p>
        </p:txBody>
      </p:sp>
    </p:spTree>
    <p:extLst>
      <p:ext uri="{BB962C8B-B14F-4D97-AF65-F5344CB8AC3E}">
        <p14:creationId xmlns:p14="http://schemas.microsoft.com/office/powerpoint/2010/main" val="2473262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B91F09C-E193-4D14-B005-CE9B32A74514}" type="datetimeFigureOut">
              <a:rPr lang="en-IN" smtClean="0"/>
              <a:t>24-04-2026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60AA2E0-00C5-4C05-94FA-BEA5D674841F}" type="slidenum">
              <a:rPr lang="en-IN" smtClean="0"/>
              <a:t>‹#›</a:t>
            </a:fld>
            <a:endParaRPr lang="en-IN"/>
          </a:p>
        </p:txBody>
      </p:sp>
    </p:spTree>
    <p:extLst>
      <p:ext uri="{BB962C8B-B14F-4D97-AF65-F5344CB8AC3E}">
        <p14:creationId xmlns:p14="http://schemas.microsoft.com/office/powerpoint/2010/main" val="1272682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91F09C-E193-4D14-B005-CE9B32A74514}" type="datetimeFigureOut">
              <a:rPr lang="en-IN" smtClean="0"/>
              <a:t>24-04-2026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60AA2E0-00C5-4C05-94FA-BEA5D674841F}" type="slidenum">
              <a:rPr lang="en-IN" smtClean="0"/>
              <a:t>‹#›</a:t>
            </a:fld>
            <a:endParaRPr lang="en-IN"/>
          </a:p>
        </p:txBody>
      </p:sp>
    </p:spTree>
    <p:extLst>
      <p:ext uri="{BB962C8B-B14F-4D97-AF65-F5344CB8AC3E}">
        <p14:creationId xmlns:p14="http://schemas.microsoft.com/office/powerpoint/2010/main" val="346811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B91F09C-E193-4D14-B005-CE9B32A74514}"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0AA2E0-00C5-4C05-94FA-BEA5D674841F}" type="slidenum">
              <a:rPr lang="en-IN" smtClean="0"/>
              <a:t>‹#›</a:t>
            </a:fld>
            <a:endParaRPr lang="en-IN"/>
          </a:p>
        </p:txBody>
      </p:sp>
    </p:spTree>
    <p:extLst>
      <p:ext uri="{BB962C8B-B14F-4D97-AF65-F5344CB8AC3E}">
        <p14:creationId xmlns:p14="http://schemas.microsoft.com/office/powerpoint/2010/main" val="243537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B91F09C-E193-4D14-B005-CE9B32A74514}"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0AA2E0-00C5-4C05-94FA-BEA5D674841F}" type="slidenum">
              <a:rPr lang="en-IN" smtClean="0"/>
              <a:t>‹#›</a:t>
            </a:fld>
            <a:endParaRPr lang="en-IN"/>
          </a:p>
        </p:txBody>
      </p:sp>
    </p:spTree>
    <p:extLst>
      <p:ext uri="{BB962C8B-B14F-4D97-AF65-F5344CB8AC3E}">
        <p14:creationId xmlns:p14="http://schemas.microsoft.com/office/powerpoint/2010/main" val="1232304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B91F09C-E193-4D14-B005-CE9B32A74514}"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0AA2E0-00C5-4C05-94FA-BEA5D674841F}" type="slidenum">
              <a:rPr lang="en-IN" smtClean="0"/>
              <a:t>‹#›</a:t>
            </a:fld>
            <a:endParaRPr lang="en-IN"/>
          </a:p>
        </p:txBody>
      </p:sp>
    </p:spTree>
    <p:extLst>
      <p:ext uri="{BB962C8B-B14F-4D97-AF65-F5344CB8AC3E}">
        <p14:creationId xmlns:p14="http://schemas.microsoft.com/office/powerpoint/2010/main" val="3021228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B91F09C-E193-4D14-B005-CE9B32A74514}"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0AA2E0-00C5-4C05-94FA-BEA5D674841F}" type="slidenum">
              <a:rPr lang="en-IN" smtClean="0"/>
              <a:t>‹#›</a:t>
            </a:fld>
            <a:endParaRPr lang="en-IN"/>
          </a:p>
        </p:txBody>
      </p:sp>
    </p:spTree>
    <p:extLst>
      <p:ext uri="{BB962C8B-B14F-4D97-AF65-F5344CB8AC3E}">
        <p14:creationId xmlns:p14="http://schemas.microsoft.com/office/powerpoint/2010/main" val="3072181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B91F09C-E193-4D14-B005-CE9B32A74514}"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0AA2E0-00C5-4C05-94FA-BEA5D674841F}"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1931518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B91F09C-E193-4D14-B005-CE9B32A74514}" type="datetimeFigureOut">
              <a:rPr lang="en-IN" smtClean="0"/>
              <a:t>24-04-2026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0AA2E0-00C5-4C05-94FA-BEA5D674841F}" type="slidenum">
              <a:rPr lang="en-IN" smtClean="0"/>
              <a:t>‹#›</a:t>
            </a:fld>
            <a:endParaRPr lang="en-IN"/>
          </a:p>
        </p:txBody>
      </p:sp>
    </p:spTree>
    <p:extLst>
      <p:ext uri="{BB962C8B-B14F-4D97-AF65-F5344CB8AC3E}">
        <p14:creationId xmlns:p14="http://schemas.microsoft.com/office/powerpoint/2010/main" val="42101060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B91F09C-E193-4D14-B005-CE9B32A74514}" type="datetimeFigureOut">
              <a:rPr lang="en-IN" smtClean="0"/>
              <a:t>24-04-2026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60AA2E0-00C5-4C05-94FA-BEA5D674841F}" type="slidenum">
              <a:rPr lang="en-IN" smtClean="0"/>
              <a:t>‹#›</a:t>
            </a:fld>
            <a:endParaRPr lang="en-IN"/>
          </a:p>
        </p:txBody>
      </p:sp>
    </p:spTree>
    <p:extLst>
      <p:ext uri="{BB962C8B-B14F-4D97-AF65-F5344CB8AC3E}">
        <p14:creationId xmlns:p14="http://schemas.microsoft.com/office/powerpoint/2010/main" val="11751483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0B91F09C-E193-4D14-B005-CE9B32A74514}" type="datetimeFigureOut">
              <a:rPr lang="en-IN" smtClean="0"/>
              <a:t>24-04-2026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60AA2E0-00C5-4C05-94FA-BEA5D674841F}" type="slidenum">
              <a:rPr lang="en-IN" smtClean="0"/>
              <a:t>‹#›</a:t>
            </a:fld>
            <a:endParaRPr lang="en-IN"/>
          </a:p>
        </p:txBody>
      </p:sp>
    </p:spTree>
    <p:extLst>
      <p:ext uri="{BB962C8B-B14F-4D97-AF65-F5344CB8AC3E}">
        <p14:creationId xmlns:p14="http://schemas.microsoft.com/office/powerpoint/2010/main" val="3774782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91F09C-E193-4D14-B005-CE9B32A74514}"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0AA2E0-00C5-4C05-94FA-BEA5D674841F}" type="slidenum">
              <a:rPr lang="en-IN" smtClean="0"/>
              <a:t>‹#›</a:t>
            </a:fld>
            <a:endParaRPr lang="en-IN"/>
          </a:p>
        </p:txBody>
      </p:sp>
    </p:spTree>
    <p:extLst>
      <p:ext uri="{BB962C8B-B14F-4D97-AF65-F5344CB8AC3E}">
        <p14:creationId xmlns:p14="http://schemas.microsoft.com/office/powerpoint/2010/main" val="74393022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B91F09C-E193-4D14-B005-CE9B32A74514}" type="datetimeFigureOut">
              <a:rPr lang="en-IN" smtClean="0"/>
              <a:t>24-04-2026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0AA2E0-00C5-4C05-94FA-BEA5D674841F}" type="slidenum">
              <a:rPr lang="en-IN" smtClean="0"/>
              <a:t>‹#›</a:t>
            </a:fld>
            <a:endParaRPr lang="en-IN"/>
          </a:p>
        </p:txBody>
      </p:sp>
    </p:spTree>
    <p:extLst>
      <p:ext uri="{BB962C8B-B14F-4D97-AF65-F5344CB8AC3E}">
        <p14:creationId xmlns:p14="http://schemas.microsoft.com/office/powerpoint/2010/main" val="2322905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IN"/>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IN"/>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en-IN"/>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B91F09C-E193-4D14-B005-CE9B32A74514}" type="datetimeFigureOut">
              <a:rPr lang="en-IN" smtClean="0"/>
              <a:t>24-04-2026</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60AA2E0-00C5-4C05-94FA-BEA5D674841F}" type="slidenum">
              <a:rPr lang="en-IN" smtClean="0"/>
              <a:t>‹#›</a:t>
            </a:fld>
            <a:endParaRPr lang="en-IN"/>
          </a:p>
        </p:txBody>
      </p:sp>
    </p:spTree>
    <p:extLst>
      <p:ext uri="{BB962C8B-B14F-4D97-AF65-F5344CB8AC3E}">
        <p14:creationId xmlns:p14="http://schemas.microsoft.com/office/powerpoint/2010/main" val="3774702678"/>
      </p:ext>
    </p:extLst>
  </p:cSld>
  <p:clrMap bg1="dk1" tx1="lt1" bg2="dk2" tx2="lt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 id="2147483764" r:id="rId15"/>
    <p:sldLayoutId id="2147483765" r:id="rId16"/>
    <p:sldLayoutId id="214748376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bing.com/ck/a?!&amp;&amp;p=b6741ddc858989f94ba913bf191a3cee9bc30c9dde48cbfcfd68821e26352a65JmltdHM9MTc3NjY0MzIwMA&amp;ptn=3&amp;ver=2&amp;hsh=4&amp;fclid=2bcfe707-ba57-6fbe-04ac-f006bb356e8a&amp;u=a1aHR0cHM6Ly93d3cucmVzZWFyY2hnYXRlLm5ldC9wdWJsaWNhdGlvbi8zODU0MDI3MjZfRGVzaWduX2FuZF9CdWlsZF9BdXRvbWF0aWNfRmFuX0NvbnRyb2xfQmFzZWRfSW50ZXJuZXRfb2ZfVGhpbmdz&amp;ntb=1"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2.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6" descr="Hostel Management System Project">
            <a:extLst>
              <a:ext uri="{FF2B5EF4-FFF2-40B4-BE49-F238E27FC236}">
                <a16:creationId xmlns:a16="http://schemas.microsoft.com/office/drawing/2014/main" id="{3A89CEE2-DBE2-6825-51EF-1FAF53B751E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 name="Picture 23">
            <a:extLst>
              <a:ext uri="{FF2B5EF4-FFF2-40B4-BE49-F238E27FC236}">
                <a16:creationId xmlns:a16="http://schemas.microsoft.com/office/drawing/2014/main" id="{F5F441FA-D12F-A85D-A2EB-0E0418BF4603}"/>
              </a:ext>
            </a:extLst>
          </p:cNvPr>
          <p:cNvPicPr>
            <a:picLocks noChangeAspect="1"/>
          </p:cNvPicPr>
          <p:nvPr/>
        </p:nvPicPr>
        <p:blipFill>
          <a:blip r:embed="rId2"/>
          <a:stretch>
            <a:fillRect/>
          </a:stretch>
        </p:blipFill>
        <p:spPr>
          <a:xfrm>
            <a:off x="7295658" y="1081595"/>
            <a:ext cx="3686689" cy="391532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26" name="TextBox 25">
            <a:extLst>
              <a:ext uri="{FF2B5EF4-FFF2-40B4-BE49-F238E27FC236}">
                <a16:creationId xmlns:a16="http://schemas.microsoft.com/office/drawing/2014/main" id="{7D04B5B6-C265-66E8-7140-C2FA04F52A9E}"/>
              </a:ext>
            </a:extLst>
          </p:cNvPr>
          <p:cNvSpPr txBox="1"/>
          <p:nvPr/>
        </p:nvSpPr>
        <p:spPr>
          <a:xfrm>
            <a:off x="761999" y="2367171"/>
            <a:ext cx="6418289" cy="1446550"/>
          </a:xfrm>
          <a:prstGeom prst="rect">
            <a:avLst/>
          </a:prstGeom>
          <a:noFill/>
        </p:spPr>
        <p:txBody>
          <a:bodyPr wrap="square" rtlCol="0">
            <a:spAutoFit/>
          </a:bodyPr>
          <a:lstStyle/>
          <a:p>
            <a:r>
              <a:rPr lang="en-IN" sz="4400" b="1" dirty="0">
                <a:solidFill>
                  <a:schemeClr val="bg1"/>
                </a:solidFill>
              </a:rPr>
              <a:t>IOT  BASED HOSTEL MANAGEMENT SYSTEM</a:t>
            </a:r>
          </a:p>
        </p:txBody>
      </p:sp>
    </p:spTree>
    <p:extLst>
      <p:ext uri="{BB962C8B-B14F-4D97-AF65-F5344CB8AC3E}">
        <p14:creationId xmlns:p14="http://schemas.microsoft.com/office/powerpoint/2010/main" val="265985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1F7CB-B1B5-D4A0-784B-5A7F52D43E10}"/>
              </a:ext>
            </a:extLst>
          </p:cNvPr>
          <p:cNvSpPr>
            <a:spLocks noGrp="1"/>
          </p:cNvSpPr>
          <p:nvPr>
            <p:ph type="title"/>
          </p:nvPr>
        </p:nvSpPr>
        <p:spPr>
          <a:xfrm>
            <a:off x="1411235" y="618518"/>
            <a:ext cx="9905999" cy="1195292"/>
          </a:xfrm>
        </p:spPr>
        <p:txBody>
          <a:bodyPr/>
          <a:lstStyle/>
          <a:p>
            <a:pPr lvl="0">
              <a:lnSpc>
                <a:spcPct val="70000"/>
              </a:lnSpc>
              <a:spcBef>
                <a:spcPts val="1333"/>
              </a:spcBef>
            </a:pPr>
            <a:r>
              <a:rPr lang="en-US" b="1" dirty="0">
                <a:solidFill>
                  <a:schemeClr val="dk1"/>
                </a:solidFill>
              </a:rPr>
              <a:t>PSN INSTITUTE OF TECHNOLOGY AND SCIENCE</a:t>
            </a:r>
            <a:br>
              <a:rPr lang="en-US" b="1" dirty="0">
                <a:solidFill>
                  <a:schemeClr val="dk1"/>
                </a:solidFill>
              </a:rPr>
            </a:br>
            <a:endParaRPr lang="en-IN" b="1" dirty="0"/>
          </a:p>
        </p:txBody>
      </p:sp>
      <p:sp>
        <p:nvSpPr>
          <p:cNvPr id="4" name="TextBox 3">
            <a:extLst>
              <a:ext uri="{FF2B5EF4-FFF2-40B4-BE49-F238E27FC236}">
                <a16:creationId xmlns:a16="http://schemas.microsoft.com/office/drawing/2014/main" id="{86D99FFF-C6BB-C626-5F81-18EBE8056FDF}"/>
              </a:ext>
            </a:extLst>
          </p:cNvPr>
          <p:cNvSpPr txBox="1"/>
          <p:nvPr/>
        </p:nvSpPr>
        <p:spPr>
          <a:xfrm>
            <a:off x="4288097" y="1813810"/>
            <a:ext cx="3372786" cy="501676"/>
          </a:xfrm>
          <a:prstGeom prst="rect">
            <a:avLst/>
          </a:prstGeom>
          <a:noFill/>
        </p:spPr>
        <p:txBody>
          <a:bodyPr wrap="square" rtlCol="0">
            <a:spAutoFit/>
          </a:bodyPr>
          <a:lstStyle/>
          <a:p>
            <a:pPr lvl="0" algn="ctr">
              <a:lnSpc>
                <a:spcPct val="70000"/>
              </a:lnSpc>
              <a:spcBef>
                <a:spcPts val="1333"/>
              </a:spcBef>
              <a:buClr>
                <a:schemeClr val="dk1"/>
              </a:buClr>
              <a:buSzPts val="1027"/>
            </a:pPr>
            <a:r>
              <a:rPr lang="en-GB" sz="3600" b="1" dirty="0">
                <a:solidFill>
                  <a:schemeClr val="dk1"/>
                </a:solidFill>
              </a:rPr>
              <a:t>Presented By</a:t>
            </a:r>
          </a:p>
        </p:txBody>
      </p:sp>
      <p:sp>
        <p:nvSpPr>
          <p:cNvPr id="6" name="TextBox 5">
            <a:extLst>
              <a:ext uri="{FF2B5EF4-FFF2-40B4-BE49-F238E27FC236}">
                <a16:creationId xmlns:a16="http://schemas.microsoft.com/office/drawing/2014/main" id="{C206562C-4443-7E33-B512-73F65422C13A}"/>
              </a:ext>
            </a:extLst>
          </p:cNvPr>
          <p:cNvSpPr txBox="1"/>
          <p:nvPr/>
        </p:nvSpPr>
        <p:spPr>
          <a:xfrm>
            <a:off x="4162268" y="2429907"/>
            <a:ext cx="3372786" cy="2075953"/>
          </a:xfrm>
          <a:prstGeom prst="rect">
            <a:avLst/>
          </a:prstGeom>
          <a:noFill/>
        </p:spPr>
        <p:txBody>
          <a:bodyPr wrap="square" rtlCol="0">
            <a:spAutoFit/>
          </a:bodyPr>
          <a:lstStyle/>
          <a:p>
            <a:pPr lvl="0" algn="ctr">
              <a:lnSpc>
                <a:spcPct val="70000"/>
              </a:lnSpc>
              <a:spcBef>
                <a:spcPts val="1333"/>
              </a:spcBef>
              <a:buClr>
                <a:schemeClr val="dk1"/>
              </a:buClr>
              <a:buSzPts val="1027"/>
            </a:pPr>
            <a:r>
              <a:rPr lang="en-GB" sz="2800" b="1" dirty="0">
                <a:solidFill>
                  <a:schemeClr val="dk1"/>
                </a:solidFill>
              </a:rPr>
              <a:t>ANITHA S</a:t>
            </a:r>
          </a:p>
          <a:p>
            <a:pPr lvl="0" algn="ctr">
              <a:lnSpc>
                <a:spcPct val="70000"/>
              </a:lnSpc>
              <a:spcBef>
                <a:spcPts val="1333"/>
              </a:spcBef>
              <a:buClr>
                <a:schemeClr val="dk1"/>
              </a:buClr>
              <a:buSzPts val="1027"/>
            </a:pPr>
            <a:r>
              <a:rPr lang="en-GB" sz="2800" b="1" dirty="0">
                <a:solidFill>
                  <a:schemeClr val="dk1"/>
                </a:solidFill>
              </a:rPr>
              <a:t>  ARSHINI X</a:t>
            </a:r>
          </a:p>
          <a:p>
            <a:pPr lvl="0" algn="ctr">
              <a:lnSpc>
                <a:spcPct val="70000"/>
              </a:lnSpc>
              <a:spcBef>
                <a:spcPts val="1333"/>
              </a:spcBef>
              <a:buClr>
                <a:schemeClr val="dk1"/>
              </a:buClr>
              <a:buSzPts val="1027"/>
            </a:pPr>
            <a:r>
              <a:rPr lang="en-GB" sz="2800" b="1" dirty="0">
                <a:solidFill>
                  <a:schemeClr val="dk1"/>
                </a:solidFill>
              </a:rPr>
              <a:t> GOKILA R</a:t>
            </a:r>
          </a:p>
          <a:p>
            <a:pPr lvl="0" algn="ctr">
              <a:lnSpc>
                <a:spcPct val="70000"/>
              </a:lnSpc>
              <a:spcBef>
                <a:spcPts val="1333"/>
              </a:spcBef>
              <a:buClr>
                <a:schemeClr val="dk1"/>
              </a:buClr>
              <a:buSzPts val="1027"/>
            </a:pPr>
            <a:r>
              <a:rPr lang="en-GB" sz="2800" b="1" dirty="0">
                <a:solidFill>
                  <a:schemeClr val="dk1"/>
                </a:solidFill>
              </a:rPr>
              <a:t>    HARINI KUMARI J</a:t>
            </a:r>
          </a:p>
          <a:p>
            <a:endParaRPr lang="en-IN" dirty="0"/>
          </a:p>
        </p:txBody>
      </p:sp>
      <p:sp>
        <p:nvSpPr>
          <p:cNvPr id="8" name="TextBox 7">
            <a:extLst>
              <a:ext uri="{FF2B5EF4-FFF2-40B4-BE49-F238E27FC236}">
                <a16:creationId xmlns:a16="http://schemas.microsoft.com/office/drawing/2014/main" id="{AD3716E8-27B3-9A56-A48F-F46D5B87A4AB}"/>
              </a:ext>
            </a:extLst>
          </p:cNvPr>
          <p:cNvSpPr txBox="1"/>
          <p:nvPr/>
        </p:nvSpPr>
        <p:spPr>
          <a:xfrm>
            <a:off x="1411235" y="4414936"/>
            <a:ext cx="9398493" cy="410690"/>
          </a:xfrm>
          <a:prstGeom prst="rect">
            <a:avLst/>
          </a:prstGeom>
          <a:noFill/>
        </p:spPr>
        <p:txBody>
          <a:bodyPr wrap="square" rtlCol="0">
            <a:spAutoFit/>
          </a:bodyPr>
          <a:lstStyle/>
          <a:p>
            <a:pPr lvl="0">
              <a:lnSpc>
                <a:spcPct val="70000"/>
              </a:lnSpc>
              <a:spcBef>
                <a:spcPts val="1333"/>
              </a:spcBef>
              <a:buClr>
                <a:schemeClr val="dk1"/>
              </a:buClr>
              <a:buSzPts val="1027"/>
            </a:pPr>
            <a:r>
              <a:rPr lang="en-US" sz="2800" b="1" dirty="0">
                <a:solidFill>
                  <a:schemeClr val="dk1"/>
                </a:solidFill>
              </a:rPr>
              <a:t>Department  : Electronics and Communication Engineering</a:t>
            </a:r>
          </a:p>
        </p:txBody>
      </p:sp>
      <p:sp>
        <p:nvSpPr>
          <p:cNvPr id="9" name="TextBox 8">
            <a:extLst>
              <a:ext uri="{FF2B5EF4-FFF2-40B4-BE49-F238E27FC236}">
                <a16:creationId xmlns:a16="http://schemas.microsoft.com/office/drawing/2014/main" id="{9650E3BD-8662-5E41-EAC7-8127BDB1F2DC}"/>
              </a:ext>
            </a:extLst>
          </p:cNvPr>
          <p:cNvSpPr txBox="1"/>
          <p:nvPr/>
        </p:nvSpPr>
        <p:spPr>
          <a:xfrm>
            <a:off x="1411235" y="4771497"/>
            <a:ext cx="6670623" cy="800219"/>
          </a:xfrm>
          <a:prstGeom prst="rect">
            <a:avLst/>
          </a:prstGeom>
          <a:noFill/>
        </p:spPr>
        <p:txBody>
          <a:bodyPr wrap="square" rtlCol="0">
            <a:spAutoFit/>
          </a:bodyPr>
          <a:lstStyle/>
          <a:p>
            <a:r>
              <a:rPr lang="en-GB" sz="2800" b="1" dirty="0">
                <a:solidFill>
                  <a:schemeClr val="dk1"/>
                </a:solidFill>
              </a:rPr>
              <a:t>Guide           : </a:t>
            </a:r>
            <a:r>
              <a:rPr lang="en-GB" sz="2800" b="1" dirty="0" err="1">
                <a:solidFill>
                  <a:schemeClr val="dk1"/>
                </a:solidFill>
              </a:rPr>
              <a:t>Ms.J.Anupriya</a:t>
            </a:r>
            <a:endParaRPr lang="en-GB" sz="2800" b="1" dirty="0">
              <a:solidFill>
                <a:schemeClr val="dk1"/>
              </a:solidFill>
            </a:endParaRPr>
          </a:p>
          <a:p>
            <a:endParaRPr lang="en-IN" dirty="0"/>
          </a:p>
        </p:txBody>
      </p:sp>
    </p:spTree>
    <p:extLst>
      <p:ext uri="{BB962C8B-B14F-4D97-AF65-F5344CB8AC3E}">
        <p14:creationId xmlns:p14="http://schemas.microsoft.com/office/powerpoint/2010/main" val="3828364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07C87-E56B-44F5-DD08-D1EFB75C1C99}"/>
              </a:ext>
            </a:extLst>
          </p:cNvPr>
          <p:cNvSpPr>
            <a:spLocks noGrp="1"/>
          </p:cNvSpPr>
          <p:nvPr>
            <p:ph type="title"/>
          </p:nvPr>
        </p:nvSpPr>
        <p:spPr/>
        <p:txBody>
          <a:bodyPr>
            <a:normAutofit/>
          </a:bodyPr>
          <a:lstStyle/>
          <a:p>
            <a:r>
              <a:rPr lang="en-US" b="1" dirty="0">
                <a:solidFill>
                  <a:schemeClr val="bg1"/>
                </a:solidFill>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A1D7CF4D-99D5-3313-F3A1-1E6CD8638981}"/>
              </a:ext>
            </a:extLst>
          </p:cNvPr>
          <p:cNvSpPr>
            <a:spLocks noGrp="1"/>
          </p:cNvSpPr>
          <p:nvPr>
            <p:ph idx="1"/>
          </p:nvPr>
        </p:nvSpPr>
        <p:spPr>
          <a:xfrm>
            <a:off x="1420381" y="1707046"/>
            <a:ext cx="9905999" cy="4399286"/>
          </a:xfrm>
        </p:spPr>
        <p:txBody>
          <a:bodyPr>
            <a:noAutofit/>
          </a:bodyPr>
          <a:lstStyle/>
          <a:p>
            <a:r>
              <a:rPr lang="en-US" sz="2800" dirty="0">
                <a:solidFill>
                  <a:schemeClr val="bg1"/>
                </a:solidFill>
              </a:rPr>
              <a:t>We built an IoT based system which can automatically switch ON room lights and fan when at least one person is present in the room. If room is empty, the lights and fan will automatically get switch off. It also displays count of persons present in the room.</a:t>
            </a:r>
          </a:p>
          <a:p>
            <a:r>
              <a:rPr lang="en-US" sz="2800" dirty="0">
                <a:solidFill>
                  <a:schemeClr val="bg1"/>
                </a:solidFill>
              </a:rPr>
              <a:t>This research aims to create and develop an automatic fan control system based on the Internet of Things (IoT) that can regulate the room temperature well. The Node MCU ESP8266 serve as a microcontroller for this system.</a:t>
            </a:r>
            <a:endParaRPr lang="en-IN" sz="2800" dirty="0">
              <a:solidFill>
                <a:schemeClr val="bg1"/>
              </a:solidFill>
            </a:endParaRPr>
          </a:p>
        </p:txBody>
      </p:sp>
      <p:sp>
        <p:nvSpPr>
          <p:cNvPr id="4" name="Rectangle 1">
            <a:extLst>
              <a:ext uri="{FF2B5EF4-FFF2-40B4-BE49-F238E27FC236}">
                <a16:creationId xmlns:a16="http://schemas.microsoft.com/office/drawing/2014/main" id="{99D55136-CBBF-59A1-42FA-56116FF780A3}"/>
              </a:ext>
            </a:extLst>
          </p:cNvPr>
          <p:cNvSpPr>
            <a:spLocks noChangeArrowheads="1"/>
          </p:cNvSpPr>
          <p:nvPr/>
        </p:nvSpPr>
        <p:spPr bwMode="auto">
          <a:xfrm>
            <a:off x="0" y="0"/>
            <a:ext cx="12192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300" b="0" i="0" u="none" strike="noStrike" cap="none" normalizeH="0" baseline="0">
              <a:ln>
                <a:noFill/>
              </a:ln>
              <a:solidFill>
                <a:srgbClr val="71777D"/>
              </a:solidFill>
              <a:effectLst/>
              <a:latin typeface="Roboto" panose="02000000000000000000" pitchFamily="2"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rgbClr val="3D00A6"/>
                </a:solidFill>
                <a:effectLst/>
                <a:latin typeface="Roboto" panose="02000000000000000000" pitchFamily="2" charset="0"/>
                <a:hlinkClick r:id="rId2"/>
              </a:rPr>
              <a:t>This research aims to create and develop an automatic fan control system based on the Internet of Things (IoT) that </a:t>
            </a:r>
            <a:r>
              <a:rPr kumimoji="0" lang="en-US" altLang="en-US" sz="1000" b="1" i="0" u="none" strike="noStrike" cap="none" normalizeH="0" baseline="0">
                <a:ln>
                  <a:noFill/>
                </a:ln>
                <a:solidFill>
                  <a:srgbClr val="3D00A6"/>
                </a:solidFill>
                <a:effectLst/>
                <a:latin typeface="Roboto" panose="02000000000000000000" pitchFamily="2" charset="0"/>
                <a:hlinkClick r:id="rId2"/>
              </a:rPr>
              <a:t>can regulate the room temperature well</a:t>
            </a:r>
            <a:r>
              <a:rPr kumimoji="0" lang="en-US" altLang="en-US" sz="1000" b="0" i="0" u="none" strike="noStrike" cap="none" normalizeH="0" baseline="0">
                <a:ln>
                  <a:noFill/>
                </a:ln>
                <a:solidFill>
                  <a:srgbClr val="3D00A6"/>
                </a:solidFill>
                <a:effectLst/>
                <a:latin typeface="Roboto" panose="02000000000000000000" pitchFamily="2" charset="0"/>
                <a:hlinkClick r:id="rId2"/>
              </a:rPr>
              <a:t>. The NodeMCU ESP8266 serve as a microcontroller for this system.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65384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54F07-9E90-6068-5B98-C8F6BB681071}"/>
              </a:ext>
            </a:extLst>
          </p:cNvPr>
          <p:cNvSpPr>
            <a:spLocks noGrp="1"/>
          </p:cNvSpPr>
          <p:nvPr>
            <p:ph type="title"/>
          </p:nvPr>
        </p:nvSpPr>
        <p:spPr>
          <a:xfrm>
            <a:off x="1141412" y="0"/>
            <a:ext cx="9905998" cy="1478570"/>
          </a:xfrm>
        </p:spPr>
        <p:txBody>
          <a:bodyPr/>
          <a:lstStyle/>
          <a:p>
            <a:r>
              <a:rPr lang="en-GB" b="1" dirty="0">
                <a:solidFill>
                  <a:schemeClr val="bg1"/>
                </a:solidFill>
              </a:rPr>
              <a:t>Existing System Challenges:</a:t>
            </a:r>
            <a:endParaRPr lang="en-IN" dirty="0">
              <a:solidFill>
                <a:schemeClr val="bg1"/>
              </a:solidFill>
            </a:endParaRPr>
          </a:p>
        </p:txBody>
      </p:sp>
      <p:sp>
        <p:nvSpPr>
          <p:cNvPr id="3" name="Content Placeholder 2">
            <a:extLst>
              <a:ext uri="{FF2B5EF4-FFF2-40B4-BE49-F238E27FC236}">
                <a16:creationId xmlns:a16="http://schemas.microsoft.com/office/drawing/2014/main" id="{22D412B1-9401-EB4D-C007-2C17F667EAB4}"/>
              </a:ext>
            </a:extLst>
          </p:cNvPr>
          <p:cNvSpPr>
            <a:spLocks noGrp="1"/>
          </p:cNvSpPr>
          <p:nvPr>
            <p:ph idx="1"/>
          </p:nvPr>
        </p:nvSpPr>
        <p:spPr>
          <a:xfrm>
            <a:off x="1141411" y="1273094"/>
            <a:ext cx="9905999" cy="3541714"/>
          </a:xfrm>
        </p:spPr>
        <p:txBody>
          <a:bodyPr/>
          <a:lstStyle/>
          <a:p>
            <a:pPr marL="457200" lvl="0" indent="-398062" algn="just">
              <a:spcBef>
                <a:spcPts val="0"/>
              </a:spcBef>
              <a:buClr>
                <a:schemeClr val="dk1"/>
              </a:buClr>
              <a:buSzPts val="2669"/>
              <a:buChar char="●"/>
            </a:pPr>
            <a:r>
              <a:rPr lang="en-US" sz="2800" dirty="0">
                <a:solidFill>
                  <a:schemeClr val="dk1"/>
                </a:solidFill>
              </a:rPr>
              <a:t>Manual attendance system leads to time consumption and errors.</a:t>
            </a:r>
          </a:p>
          <a:p>
            <a:pPr marL="457200" lvl="0" indent="-398062" algn="just">
              <a:spcBef>
                <a:spcPts val="0"/>
              </a:spcBef>
              <a:buClr>
                <a:schemeClr val="dk1"/>
              </a:buClr>
              <a:buSzPts val="2669"/>
              <a:buChar char="●"/>
            </a:pPr>
            <a:r>
              <a:rPr lang="en-US" sz="2800" dirty="0">
                <a:solidFill>
                  <a:schemeClr val="dk1"/>
                </a:solidFill>
              </a:rPr>
              <a:t>Students may forget to sign attendance register.</a:t>
            </a:r>
          </a:p>
          <a:p>
            <a:pPr marL="457200" lvl="0" indent="-398062" algn="just">
              <a:spcBef>
                <a:spcPts val="0"/>
              </a:spcBef>
              <a:buClr>
                <a:schemeClr val="dk1"/>
              </a:buClr>
              <a:buSzPts val="2669"/>
              <a:buChar char="●"/>
            </a:pPr>
            <a:r>
              <a:rPr lang="en-US" sz="2800" dirty="0">
                <a:solidFill>
                  <a:schemeClr val="dk1"/>
                </a:solidFill>
              </a:rPr>
              <a:t>No proper tracking of student entry and exit in hostel rooms.</a:t>
            </a:r>
          </a:p>
          <a:p>
            <a:pPr marL="457200" lvl="0" indent="-398062" algn="just">
              <a:spcBef>
                <a:spcPts val="0"/>
              </a:spcBef>
              <a:buClr>
                <a:schemeClr val="dk1"/>
              </a:buClr>
              <a:buSzPts val="2669"/>
              <a:buChar char="●"/>
            </a:pPr>
            <a:r>
              <a:rPr lang="en-US" sz="2800" dirty="0">
                <a:solidFill>
                  <a:schemeClr val="dk1"/>
                </a:solidFill>
              </a:rPr>
              <a:t>Energy wastage occurs when lights and fans are left ON in empty rooms.</a:t>
            </a:r>
          </a:p>
          <a:p>
            <a:pPr marL="457200" lvl="0" indent="-398062" algn="just">
              <a:spcBef>
                <a:spcPts val="0"/>
              </a:spcBef>
              <a:buClr>
                <a:schemeClr val="dk1"/>
              </a:buClr>
              <a:buSzPts val="2669"/>
              <a:buChar char="●"/>
            </a:pPr>
            <a:r>
              <a:rPr lang="en-US" sz="2800" dirty="0">
                <a:solidFill>
                  <a:schemeClr val="dk1"/>
                </a:solidFill>
              </a:rPr>
              <a:t>Lack of automation reduces efficiency in hostel management</a:t>
            </a:r>
          </a:p>
          <a:p>
            <a:endParaRPr lang="en-IN" dirty="0"/>
          </a:p>
        </p:txBody>
      </p:sp>
      <p:pic>
        <p:nvPicPr>
          <p:cNvPr id="5" name="Google Shape;81;p17" title="step3.jpg">
            <a:extLst>
              <a:ext uri="{FF2B5EF4-FFF2-40B4-BE49-F238E27FC236}">
                <a16:creationId xmlns:a16="http://schemas.microsoft.com/office/drawing/2014/main" id="{4574473E-59E0-D1D2-D936-AE427E2550A4}"/>
              </a:ext>
            </a:extLst>
          </p:cNvPr>
          <p:cNvPicPr preferRelativeResize="0"/>
          <p:nvPr/>
        </p:nvPicPr>
        <p:blipFill>
          <a:blip r:embed="rId2">
            <a:alphaModFix/>
          </a:blip>
          <a:stretch>
            <a:fillRect/>
          </a:stretch>
        </p:blipFill>
        <p:spPr>
          <a:xfrm>
            <a:off x="1348353" y="4814808"/>
            <a:ext cx="2809875" cy="1738325"/>
          </a:xfrm>
          <a:prstGeom prst="rect">
            <a:avLst/>
          </a:prstGeom>
          <a:noFill/>
          <a:ln>
            <a:noFill/>
          </a:ln>
        </p:spPr>
      </p:pic>
      <p:pic>
        <p:nvPicPr>
          <p:cNvPr id="6" name="Google Shape;83;p17" title="step32.jpg">
            <a:extLst>
              <a:ext uri="{FF2B5EF4-FFF2-40B4-BE49-F238E27FC236}">
                <a16:creationId xmlns:a16="http://schemas.microsoft.com/office/drawing/2014/main" id="{73C00E8E-1213-DE53-D987-8E1E615B54AF}"/>
              </a:ext>
            </a:extLst>
          </p:cNvPr>
          <p:cNvPicPr preferRelativeResize="0"/>
          <p:nvPr/>
        </p:nvPicPr>
        <p:blipFill>
          <a:blip r:embed="rId3">
            <a:alphaModFix/>
          </a:blip>
          <a:stretch>
            <a:fillRect/>
          </a:stretch>
        </p:blipFill>
        <p:spPr>
          <a:xfrm>
            <a:off x="5184368" y="4760045"/>
            <a:ext cx="2143125" cy="1847850"/>
          </a:xfrm>
          <a:prstGeom prst="rect">
            <a:avLst/>
          </a:prstGeom>
          <a:noFill/>
          <a:ln>
            <a:noFill/>
          </a:ln>
        </p:spPr>
      </p:pic>
      <p:pic>
        <p:nvPicPr>
          <p:cNvPr id="7" name="Google Shape;82;p17" title="step31.jpg">
            <a:extLst>
              <a:ext uri="{FF2B5EF4-FFF2-40B4-BE49-F238E27FC236}">
                <a16:creationId xmlns:a16="http://schemas.microsoft.com/office/drawing/2014/main" id="{D57F9DF3-F9EC-0C8D-6E97-0457DA33572D}"/>
              </a:ext>
            </a:extLst>
          </p:cNvPr>
          <p:cNvPicPr preferRelativeResize="0"/>
          <p:nvPr/>
        </p:nvPicPr>
        <p:blipFill>
          <a:blip r:embed="rId4">
            <a:alphaModFix/>
          </a:blip>
          <a:stretch>
            <a:fillRect/>
          </a:stretch>
        </p:blipFill>
        <p:spPr>
          <a:xfrm>
            <a:off x="8417700" y="4814808"/>
            <a:ext cx="2952750" cy="1552575"/>
          </a:xfrm>
          <a:prstGeom prst="rect">
            <a:avLst/>
          </a:prstGeom>
          <a:noFill/>
          <a:ln>
            <a:noFill/>
          </a:ln>
        </p:spPr>
      </p:pic>
      <p:cxnSp>
        <p:nvCxnSpPr>
          <p:cNvPr id="11" name="Straight Arrow Connector 10">
            <a:extLst>
              <a:ext uri="{FF2B5EF4-FFF2-40B4-BE49-F238E27FC236}">
                <a16:creationId xmlns:a16="http://schemas.microsoft.com/office/drawing/2014/main" id="{218230E8-3FCE-4A3E-AED5-790EA79677CD}"/>
              </a:ext>
            </a:extLst>
          </p:cNvPr>
          <p:cNvCxnSpPr>
            <a:stCxn id="6" idx="1"/>
            <a:endCxn id="5" idx="3"/>
          </p:cNvCxnSpPr>
          <p:nvPr/>
        </p:nvCxnSpPr>
        <p:spPr>
          <a:xfrm flipH="1">
            <a:off x="4158228" y="5683970"/>
            <a:ext cx="1026140" cy="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8B097D45-5CBF-2C72-B4B1-8AC78D4BE7DF}"/>
              </a:ext>
            </a:extLst>
          </p:cNvPr>
          <p:cNvCxnSpPr>
            <a:stCxn id="6" idx="3"/>
          </p:cNvCxnSpPr>
          <p:nvPr/>
        </p:nvCxnSpPr>
        <p:spPr>
          <a:xfrm>
            <a:off x="7327493" y="5683970"/>
            <a:ext cx="109020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17076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5A995-DC27-2D8E-2353-A7BBE7EB71E5}"/>
              </a:ext>
            </a:extLst>
          </p:cNvPr>
          <p:cNvSpPr>
            <a:spLocks noGrp="1"/>
          </p:cNvSpPr>
          <p:nvPr>
            <p:ph type="title"/>
          </p:nvPr>
        </p:nvSpPr>
        <p:spPr>
          <a:xfrm>
            <a:off x="826620" y="327514"/>
            <a:ext cx="9905998" cy="1478570"/>
          </a:xfrm>
        </p:spPr>
        <p:txBody>
          <a:bodyPr/>
          <a:lstStyle/>
          <a:p>
            <a:r>
              <a:rPr lang="en-IN" b="1" dirty="0">
                <a:solidFill>
                  <a:schemeClr val="bg1"/>
                </a:solidFill>
              </a:rPr>
              <a:t>Smart solution design:</a:t>
            </a:r>
          </a:p>
        </p:txBody>
      </p:sp>
      <p:sp>
        <p:nvSpPr>
          <p:cNvPr id="3" name="Content Placeholder 2">
            <a:extLst>
              <a:ext uri="{FF2B5EF4-FFF2-40B4-BE49-F238E27FC236}">
                <a16:creationId xmlns:a16="http://schemas.microsoft.com/office/drawing/2014/main" id="{BCD7D221-AA31-B8D3-FBF5-BDF9DF766F95}"/>
              </a:ext>
            </a:extLst>
          </p:cNvPr>
          <p:cNvSpPr>
            <a:spLocks noGrp="1"/>
          </p:cNvSpPr>
          <p:nvPr>
            <p:ph idx="1"/>
          </p:nvPr>
        </p:nvSpPr>
        <p:spPr>
          <a:xfrm>
            <a:off x="1606108" y="1658143"/>
            <a:ext cx="6503572" cy="3541714"/>
          </a:xfrm>
        </p:spPr>
        <p:txBody>
          <a:bodyPr>
            <a:normAutofit fontScale="25000" lnSpcReduction="20000"/>
          </a:bodyPr>
          <a:lstStyle/>
          <a:p>
            <a:pPr marL="457200" lvl="0" indent="-438347">
              <a:spcBef>
                <a:spcPts val="1200"/>
              </a:spcBef>
              <a:buClr>
                <a:schemeClr val="dk1"/>
              </a:buClr>
              <a:buSzPct val="100000"/>
              <a:buChar char="●"/>
            </a:pPr>
            <a:r>
              <a:rPr lang="en-GB" sz="11200" dirty="0">
                <a:solidFill>
                  <a:schemeClr val="dk1"/>
                </a:solidFill>
              </a:rPr>
              <a:t>Uses IoT for smart hostel management</a:t>
            </a:r>
          </a:p>
          <a:p>
            <a:pPr marL="457200" lvl="0" indent="-438347">
              <a:spcBef>
                <a:spcPts val="0"/>
              </a:spcBef>
              <a:buClr>
                <a:schemeClr val="dk1"/>
              </a:buClr>
              <a:buSzPct val="100000"/>
              <a:buChar char="●"/>
            </a:pPr>
            <a:r>
              <a:rPr lang="en-GB" sz="11200" dirty="0">
                <a:solidFill>
                  <a:schemeClr val="dk1"/>
                </a:solidFill>
              </a:rPr>
              <a:t>RFID tracks student entry and exit</a:t>
            </a:r>
          </a:p>
          <a:p>
            <a:pPr marL="457200" lvl="0" indent="-438347">
              <a:spcBef>
                <a:spcPts val="0"/>
              </a:spcBef>
              <a:buClr>
                <a:schemeClr val="dk1"/>
              </a:buClr>
              <a:buSzPct val="100000"/>
              <a:buChar char="●"/>
            </a:pPr>
            <a:r>
              <a:rPr lang="en-GB" sz="11200" dirty="0">
                <a:solidFill>
                  <a:schemeClr val="dk1"/>
                </a:solidFill>
              </a:rPr>
              <a:t>Arduino processes system data</a:t>
            </a:r>
          </a:p>
          <a:p>
            <a:pPr marL="457200" lvl="0" indent="-438347">
              <a:spcBef>
                <a:spcPts val="0"/>
              </a:spcBef>
              <a:buClr>
                <a:schemeClr val="dk1"/>
              </a:buClr>
              <a:buSzPct val="100000"/>
              <a:buChar char="●"/>
            </a:pPr>
            <a:r>
              <a:rPr lang="en-GB" sz="11200" dirty="0">
                <a:solidFill>
                  <a:schemeClr val="dk1"/>
                </a:solidFill>
              </a:rPr>
              <a:t>PIR sensor monitors room activity</a:t>
            </a:r>
          </a:p>
          <a:p>
            <a:pPr marL="457200" lvl="0" indent="-438347">
              <a:spcBef>
                <a:spcPts val="0"/>
              </a:spcBef>
              <a:buClr>
                <a:schemeClr val="dk1"/>
              </a:buClr>
              <a:buSzPct val="100000"/>
              <a:buChar char="●"/>
            </a:pPr>
            <a:r>
              <a:rPr lang="en-GB" sz="11200" dirty="0">
                <a:solidFill>
                  <a:schemeClr val="dk1"/>
                </a:solidFill>
              </a:rPr>
              <a:t>Data sent to database via Wi-Fi</a:t>
            </a:r>
          </a:p>
          <a:p>
            <a:pPr marL="457200" lvl="0" indent="-438347">
              <a:spcBef>
                <a:spcPts val="0"/>
              </a:spcBef>
              <a:buClr>
                <a:schemeClr val="dk1"/>
              </a:buClr>
              <a:buSzPct val="100000"/>
              <a:buChar char="●"/>
            </a:pPr>
            <a:r>
              <a:rPr lang="en-GB" sz="11200" dirty="0">
                <a:solidFill>
                  <a:schemeClr val="dk1"/>
                </a:solidFill>
              </a:rPr>
              <a:t>Enables real-time monitoring</a:t>
            </a:r>
          </a:p>
          <a:p>
            <a:pPr marL="457200" lvl="0" indent="-438347">
              <a:spcBef>
                <a:spcPts val="0"/>
              </a:spcBef>
              <a:buClr>
                <a:schemeClr val="dk1"/>
              </a:buClr>
              <a:buSzPct val="100000"/>
              <a:buChar char="●"/>
            </a:pPr>
            <a:r>
              <a:rPr lang="en-GB" sz="11200" dirty="0">
                <a:solidFill>
                  <a:schemeClr val="dk1"/>
                </a:solidFill>
              </a:rPr>
              <a:t>Sends alerts for unauthorized access</a:t>
            </a:r>
          </a:p>
          <a:p>
            <a:pPr marL="457200" lvl="0" indent="-438347">
              <a:spcBef>
                <a:spcPts val="0"/>
              </a:spcBef>
              <a:buClr>
                <a:schemeClr val="dk1"/>
              </a:buClr>
              <a:buSzPct val="100000"/>
              <a:buChar char="●"/>
            </a:pPr>
            <a:r>
              <a:rPr lang="en-GB" sz="11200" dirty="0">
                <a:solidFill>
                  <a:schemeClr val="dk1"/>
                </a:solidFill>
              </a:rPr>
              <a:t>Maintains secure and accurate records</a:t>
            </a:r>
          </a:p>
          <a:p>
            <a:endParaRPr lang="en-IN" dirty="0"/>
          </a:p>
        </p:txBody>
      </p:sp>
      <p:pic>
        <p:nvPicPr>
          <p:cNvPr id="5" name="Picture 4">
            <a:extLst>
              <a:ext uri="{FF2B5EF4-FFF2-40B4-BE49-F238E27FC236}">
                <a16:creationId xmlns:a16="http://schemas.microsoft.com/office/drawing/2014/main" id="{DC1C6A78-5259-253F-B08E-D5E1C4F4F540}"/>
              </a:ext>
            </a:extLst>
          </p:cNvPr>
          <p:cNvPicPr>
            <a:picLocks noChangeAspect="1"/>
          </p:cNvPicPr>
          <p:nvPr/>
        </p:nvPicPr>
        <p:blipFill>
          <a:blip r:embed="rId2"/>
          <a:stretch>
            <a:fillRect/>
          </a:stretch>
        </p:blipFill>
        <p:spPr>
          <a:xfrm>
            <a:off x="7994732" y="1588478"/>
            <a:ext cx="3782733" cy="3096469"/>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37706826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47606-1490-2DEF-2297-6223AAC90247}"/>
              </a:ext>
            </a:extLst>
          </p:cNvPr>
          <p:cNvSpPr>
            <a:spLocks noGrp="1"/>
          </p:cNvSpPr>
          <p:nvPr>
            <p:ph type="title"/>
          </p:nvPr>
        </p:nvSpPr>
        <p:spPr>
          <a:xfrm>
            <a:off x="1141412" y="138832"/>
            <a:ext cx="9905998" cy="1478570"/>
          </a:xfrm>
        </p:spPr>
        <p:txBody>
          <a:bodyPr/>
          <a:lstStyle/>
          <a:p>
            <a:r>
              <a:rPr lang="en-IN" b="1" dirty="0">
                <a:solidFill>
                  <a:schemeClr val="bg1"/>
                </a:solidFill>
              </a:rPr>
              <a:t>Components required</a:t>
            </a:r>
          </a:p>
        </p:txBody>
      </p:sp>
      <p:pic>
        <p:nvPicPr>
          <p:cNvPr id="9" name="Content Placeholder 8">
            <a:extLst>
              <a:ext uri="{FF2B5EF4-FFF2-40B4-BE49-F238E27FC236}">
                <a16:creationId xmlns:a16="http://schemas.microsoft.com/office/drawing/2014/main" id="{FC285F24-A317-A031-F872-6741BD915733}"/>
              </a:ext>
            </a:extLst>
          </p:cNvPr>
          <p:cNvPicPr>
            <a:picLocks noGrp="1" noChangeAspect="1"/>
          </p:cNvPicPr>
          <p:nvPr>
            <p:ph idx="1"/>
          </p:nvPr>
        </p:nvPicPr>
        <p:blipFill>
          <a:blip r:embed="rId2"/>
          <a:stretch>
            <a:fillRect/>
          </a:stretch>
        </p:blipFill>
        <p:spPr>
          <a:xfrm>
            <a:off x="1426225" y="1062767"/>
            <a:ext cx="2306326" cy="2061713"/>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10" name="TextBox 9">
            <a:extLst>
              <a:ext uri="{FF2B5EF4-FFF2-40B4-BE49-F238E27FC236}">
                <a16:creationId xmlns:a16="http://schemas.microsoft.com/office/drawing/2014/main" id="{7756B72A-5B32-7F95-07A6-602A9DB223CB}"/>
              </a:ext>
            </a:extLst>
          </p:cNvPr>
          <p:cNvSpPr txBox="1"/>
          <p:nvPr/>
        </p:nvSpPr>
        <p:spPr>
          <a:xfrm>
            <a:off x="1694967" y="3309079"/>
            <a:ext cx="1858781" cy="461665"/>
          </a:xfrm>
          <a:prstGeom prst="rect">
            <a:avLst/>
          </a:prstGeom>
          <a:noFill/>
        </p:spPr>
        <p:txBody>
          <a:bodyPr wrap="square" rtlCol="0">
            <a:spAutoFit/>
          </a:bodyPr>
          <a:lstStyle/>
          <a:p>
            <a:r>
              <a:rPr lang="en-IN" sz="2400" b="1" dirty="0">
                <a:solidFill>
                  <a:schemeClr val="bg1"/>
                </a:solidFill>
              </a:rPr>
              <a:t>IR Sensor</a:t>
            </a:r>
          </a:p>
        </p:txBody>
      </p:sp>
      <p:pic>
        <p:nvPicPr>
          <p:cNvPr id="12" name="Picture 11">
            <a:extLst>
              <a:ext uri="{FF2B5EF4-FFF2-40B4-BE49-F238E27FC236}">
                <a16:creationId xmlns:a16="http://schemas.microsoft.com/office/drawing/2014/main" id="{7E14D050-225F-375F-44C8-A938A9F6707E}"/>
              </a:ext>
            </a:extLst>
          </p:cNvPr>
          <p:cNvPicPr>
            <a:picLocks noChangeAspect="1"/>
          </p:cNvPicPr>
          <p:nvPr/>
        </p:nvPicPr>
        <p:blipFill>
          <a:blip r:embed="rId3"/>
          <a:stretch>
            <a:fillRect/>
          </a:stretch>
        </p:blipFill>
        <p:spPr>
          <a:xfrm>
            <a:off x="5593772" y="1209688"/>
            <a:ext cx="2081191" cy="1914792"/>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13" name="TextBox 12">
            <a:extLst>
              <a:ext uri="{FF2B5EF4-FFF2-40B4-BE49-F238E27FC236}">
                <a16:creationId xmlns:a16="http://schemas.microsoft.com/office/drawing/2014/main" id="{CEFD38A8-EEC8-068F-084F-F44A37178A46}"/>
              </a:ext>
            </a:extLst>
          </p:cNvPr>
          <p:cNvSpPr txBox="1"/>
          <p:nvPr/>
        </p:nvSpPr>
        <p:spPr>
          <a:xfrm>
            <a:off x="5734957" y="3309078"/>
            <a:ext cx="1798820" cy="461665"/>
          </a:xfrm>
          <a:prstGeom prst="rect">
            <a:avLst/>
          </a:prstGeom>
          <a:noFill/>
        </p:spPr>
        <p:txBody>
          <a:bodyPr wrap="square" rtlCol="0">
            <a:spAutoFit/>
          </a:bodyPr>
          <a:lstStyle/>
          <a:p>
            <a:r>
              <a:rPr lang="en-IN" sz="2400" b="1" dirty="0">
                <a:solidFill>
                  <a:schemeClr val="bg1"/>
                </a:solidFill>
              </a:rPr>
              <a:t>ESP 32</a:t>
            </a:r>
          </a:p>
        </p:txBody>
      </p:sp>
      <p:pic>
        <p:nvPicPr>
          <p:cNvPr id="17" name="Picture 16">
            <a:extLst>
              <a:ext uri="{FF2B5EF4-FFF2-40B4-BE49-F238E27FC236}">
                <a16:creationId xmlns:a16="http://schemas.microsoft.com/office/drawing/2014/main" id="{C92F69A9-680B-B41B-D293-8279438CE199}"/>
              </a:ext>
            </a:extLst>
          </p:cNvPr>
          <p:cNvPicPr>
            <a:picLocks noChangeAspect="1"/>
          </p:cNvPicPr>
          <p:nvPr/>
        </p:nvPicPr>
        <p:blipFill>
          <a:blip r:embed="rId4"/>
          <a:stretch>
            <a:fillRect/>
          </a:stretch>
        </p:blipFill>
        <p:spPr>
          <a:xfrm>
            <a:off x="9121548" y="1128012"/>
            <a:ext cx="1790950" cy="2191056"/>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18" name="TextBox 17">
            <a:extLst>
              <a:ext uri="{FF2B5EF4-FFF2-40B4-BE49-F238E27FC236}">
                <a16:creationId xmlns:a16="http://schemas.microsoft.com/office/drawing/2014/main" id="{1667ED98-6E89-489C-56C9-9E336EB60C23}"/>
              </a:ext>
            </a:extLst>
          </p:cNvPr>
          <p:cNvSpPr txBox="1"/>
          <p:nvPr/>
        </p:nvSpPr>
        <p:spPr>
          <a:xfrm>
            <a:off x="8986636" y="3401411"/>
            <a:ext cx="1925862" cy="461665"/>
          </a:xfrm>
          <a:prstGeom prst="rect">
            <a:avLst/>
          </a:prstGeom>
          <a:noFill/>
        </p:spPr>
        <p:txBody>
          <a:bodyPr wrap="square" rtlCol="0">
            <a:spAutoFit/>
          </a:bodyPr>
          <a:lstStyle/>
          <a:p>
            <a:r>
              <a:rPr lang="en-IN" sz="2400" b="1" dirty="0">
                <a:solidFill>
                  <a:schemeClr val="bg1"/>
                </a:solidFill>
              </a:rPr>
              <a:t>RF ID Reader</a:t>
            </a:r>
          </a:p>
        </p:txBody>
      </p:sp>
      <p:pic>
        <p:nvPicPr>
          <p:cNvPr id="20" name="Picture 19">
            <a:extLst>
              <a:ext uri="{FF2B5EF4-FFF2-40B4-BE49-F238E27FC236}">
                <a16:creationId xmlns:a16="http://schemas.microsoft.com/office/drawing/2014/main" id="{9911A8F6-DE70-F940-7233-14F2457F32B7}"/>
              </a:ext>
            </a:extLst>
          </p:cNvPr>
          <p:cNvPicPr>
            <a:picLocks noChangeAspect="1"/>
          </p:cNvPicPr>
          <p:nvPr/>
        </p:nvPicPr>
        <p:blipFill>
          <a:blip r:embed="rId5"/>
          <a:stretch>
            <a:fillRect/>
          </a:stretch>
        </p:blipFill>
        <p:spPr>
          <a:xfrm>
            <a:off x="3023079" y="3632242"/>
            <a:ext cx="2248214" cy="2219635"/>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21" name="TextBox 20">
            <a:extLst>
              <a:ext uri="{FF2B5EF4-FFF2-40B4-BE49-F238E27FC236}">
                <a16:creationId xmlns:a16="http://schemas.microsoft.com/office/drawing/2014/main" id="{9E341832-1E73-2E3B-D332-1B2310978254}"/>
              </a:ext>
            </a:extLst>
          </p:cNvPr>
          <p:cNvSpPr txBox="1"/>
          <p:nvPr/>
        </p:nvSpPr>
        <p:spPr>
          <a:xfrm>
            <a:off x="3165330" y="5944207"/>
            <a:ext cx="1963711" cy="461665"/>
          </a:xfrm>
          <a:prstGeom prst="rect">
            <a:avLst/>
          </a:prstGeom>
          <a:noFill/>
        </p:spPr>
        <p:txBody>
          <a:bodyPr wrap="square" rtlCol="0">
            <a:spAutoFit/>
          </a:bodyPr>
          <a:lstStyle/>
          <a:p>
            <a:r>
              <a:rPr lang="en-IN" sz="2400" b="1" dirty="0">
                <a:solidFill>
                  <a:schemeClr val="bg1"/>
                </a:solidFill>
              </a:rPr>
              <a:t>PIR Sensor</a:t>
            </a:r>
          </a:p>
        </p:txBody>
      </p:sp>
      <p:pic>
        <p:nvPicPr>
          <p:cNvPr id="23" name="Picture 22">
            <a:extLst>
              <a:ext uri="{FF2B5EF4-FFF2-40B4-BE49-F238E27FC236}">
                <a16:creationId xmlns:a16="http://schemas.microsoft.com/office/drawing/2014/main" id="{F02E7E3F-FD16-DD48-46EF-630BA28E71E8}"/>
              </a:ext>
            </a:extLst>
          </p:cNvPr>
          <p:cNvPicPr>
            <a:picLocks noChangeAspect="1"/>
          </p:cNvPicPr>
          <p:nvPr/>
        </p:nvPicPr>
        <p:blipFill>
          <a:blip r:embed="rId6"/>
          <a:stretch>
            <a:fillRect/>
          </a:stretch>
        </p:blipFill>
        <p:spPr>
          <a:xfrm>
            <a:off x="6462065" y="3770743"/>
            <a:ext cx="2143424" cy="2000529"/>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24" name="TextBox 23">
            <a:extLst>
              <a:ext uri="{FF2B5EF4-FFF2-40B4-BE49-F238E27FC236}">
                <a16:creationId xmlns:a16="http://schemas.microsoft.com/office/drawing/2014/main" id="{F6C101AE-96DA-CE67-1691-BAACCD7BCCEC}"/>
              </a:ext>
            </a:extLst>
          </p:cNvPr>
          <p:cNvSpPr txBox="1"/>
          <p:nvPr/>
        </p:nvSpPr>
        <p:spPr>
          <a:xfrm>
            <a:off x="6611314" y="5985438"/>
            <a:ext cx="2143424" cy="461665"/>
          </a:xfrm>
          <a:prstGeom prst="rect">
            <a:avLst/>
          </a:prstGeom>
          <a:noFill/>
        </p:spPr>
        <p:txBody>
          <a:bodyPr wrap="square" rtlCol="0">
            <a:spAutoFit/>
          </a:bodyPr>
          <a:lstStyle/>
          <a:p>
            <a:r>
              <a:rPr lang="en-IN" sz="2400" b="1" dirty="0">
                <a:solidFill>
                  <a:schemeClr val="bg1"/>
                </a:solidFill>
              </a:rPr>
              <a:t>Relay Module</a:t>
            </a:r>
          </a:p>
        </p:txBody>
      </p:sp>
    </p:spTree>
    <p:extLst>
      <p:ext uri="{BB962C8B-B14F-4D97-AF65-F5344CB8AC3E}">
        <p14:creationId xmlns:p14="http://schemas.microsoft.com/office/powerpoint/2010/main" val="38163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BFCFCD5-4355-6455-500A-8D43411699A7}"/>
              </a:ext>
            </a:extLst>
          </p:cNvPr>
          <p:cNvPicPr>
            <a:picLocks noChangeAspect="1"/>
          </p:cNvPicPr>
          <p:nvPr/>
        </p:nvPicPr>
        <p:blipFill>
          <a:blip r:embed="rId2"/>
          <a:stretch>
            <a:fillRect/>
          </a:stretch>
        </p:blipFill>
        <p:spPr>
          <a:xfrm>
            <a:off x="1430010" y="615626"/>
            <a:ext cx="2076740" cy="2029108"/>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6" name="TextBox 5">
            <a:extLst>
              <a:ext uri="{FF2B5EF4-FFF2-40B4-BE49-F238E27FC236}">
                <a16:creationId xmlns:a16="http://schemas.microsoft.com/office/drawing/2014/main" id="{320879E0-5CF4-2002-9483-3560E767597C}"/>
              </a:ext>
            </a:extLst>
          </p:cNvPr>
          <p:cNvSpPr txBox="1"/>
          <p:nvPr/>
        </p:nvSpPr>
        <p:spPr>
          <a:xfrm>
            <a:off x="1430010" y="2758190"/>
            <a:ext cx="1767891" cy="461665"/>
          </a:xfrm>
          <a:prstGeom prst="rect">
            <a:avLst/>
          </a:prstGeom>
          <a:noFill/>
        </p:spPr>
        <p:txBody>
          <a:bodyPr wrap="square" rtlCol="0">
            <a:spAutoFit/>
          </a:bodyPr>
          <a:lstStyle/>
          <a:p>
            <a:r>
              <a:rPr lang="en-IN" sz="2400" b="1" dirty="0">
                <a:solidFill>
                  <a:schemeClr val="bg1"/>
                </a:solidFill>
              </a:rPr>
              <a:t>LCD Display</a:t>
            </a:r>
          </a:p>
        </p:txBody>
      </p:sp>
      <p:pic>
        <p:nvPicPr>
          <p:cNvPr id="8" name="Picture 7">
            <a:extLst>
              <a:ext uri="{FF2B5EF4-FFF2-40B4-BE49-F238E27FC236}">
                <a16:creationId xmlns:a16="http://schemas.microsoft.com/office/drawing/2014/main" id="{DB6D1C39-7C28-6DCC-7F96-F4FDF3C8D4D3}"/>
              </a:ext>
            </a:extLst>
          </p:cNvPr>
          <p:cNvPicPr>
            <a:picLocks noChangeAspect="1"/>
          </p:cNvPicPr>
          <p:nvPr/>
        </p:nvPicPr>
        <p:blipFill>
          <a:blip r:embed="rId3"/>
          <a:stretch>
            <a:fillRect/>
          </a:stretch>
        </p:blipFill>
        <p:spPr>
          <a:xfrm>
            <a:off x="4948077" y="643345"/>
            <a:ext cx="2295845" cy="2114845"/>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9" name="TextBox 8">
            <a:extLst>
              <a:ext uri="{FF2B5EF4-FFF2-40B4-BE49-F238E27FC236}">
                <a16:creationId xmlns:a16="http://schemas.microsoft.com/office/drawing/2014/main" id="{BF00111B-C42B-D8B9-F0CF-C81CF69F092A}"/>
              </a:ext>
            </a:extLst>
          </p:cNvPr>
          <p:cNvSpPr txBox="1"/>
          <p:nvPr/>
        </p:nvSpPr>
        <p:spPr>
          <a:xfrm>
            <a:off x="4756878" y="2967335"/>
            <a:ext cx="2487044" cy="461665"/>
          </a:xfrm>
          <a:prstGeom prst="rect">
            <a:avLst/>
          </a:prstGeom>
          <a:noFill/>
        </p:spPr>
        <p:txBody>
          <a:bodyPr wrap="square" rtlCol="0">
            <a:spAutoFit/>
          </a:bodyPr>
          <a:lstStyle/>
          <a:p>
            <a:r>
              <a:rPr lang="en-IN" sz="2400" b="1" dirty="0">
                <a:solidFill>
                  <a:schemeClr val="bg1"/>
                </a:solidFill>
              </a:rPr>
              <a:t>Transistor BC547</a:t>
            </a:r>
          </a:p>
        </p:txBody>
      </p:sp>
      <p:pic>
        <p:nvPicPr>
          <p:cNvPr id="11" name="Picture 10">
            <a:extLst>
              <a:ext uri="{FF2B5EF4-FFF2-40B4-BE49-F238E27FC236}">
                <a16:creationId xmlns:a16="http://schemas.microsoft.com/office/drawing/2014/main" id="{004EE0F6-BB1C-3F0D-27A9-0C3CB0A46D27}"/>
              </a:ext>
            </a:extLst>
          </p:cNvPr>
          <p:cNvPicPr>
            <a:picLocks noChangeAspect="1"/>
          </p:cNvPicPr>
          <p:nvPr/>
        </p:nvPicPr>
        <p:blipFill>
          <a:blip r:embed="rId4"/>
          <a:stretch>
            <a:fillRect/>
          </a:stretch>
        </p:blipFill>
        <p:spPr>
          <a:xfrm>
            <a:off x="8994098" y="700503"/>
            <a:ext cx="2191056" cy="2057687"/>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12" name="TextBox 11">
            <a:extLst>
              <a:ext uri="{FF2B5EF4-FFF2-40B4-BE49-F238E27FC236}">
                <a16:creationId xmlns:a16="http://schemas.microsoft.com/office/drawing/2014/main" id="{823E2DCE-0C26-33F1-05B0-5C708B6419CA}"/>
              </a:ext>
            </a:extLst>
          </p:cNvPr>
          <p:cNvSpPr txBox="1"/>
          <p:nvPr/>
        </p:nvSpPr>
        <p:spPr>
          <a:xfrm>
            <a:off x="8994098" y="2989022"/>
            <a:ext cx="2368446" cy="461665"/>
          </a:xfrm>
          <a:prstGeom prst="rect">
            <a:avLst/>
          </a:prstGeom>
          <a:noFill/>
        </p:spPr>
        <p:txBody>
          <a:bodyPr wrap="square" rtlCol="0">
            <a:spAutoFit/>
          </a:bodyPr>
          <a:lstStyle/>
          <a:p>
            <a:r>
              <a:rPr lang="en-IN" sz="2400" b="1" dirty="0">
                <a:solidFill>
                  <a:schemeClr val="bg1"/>
                </a:solidFill>
              </a:rPr>
              <a:t>Bug Converter</a:t>
            </a:r>
          </a:p>
        </p:txBody>
      </p:sp>
      <p:pic>
        <p:nvPicPr>
          <p:cNvPr id="14" name="Picture 13">
            <a:extLst>
              <a:ext uri="{FF2B5EF4-FFF2-40B4-BE49-F238E27FC236}">
                <a16:creationId xmlns:a16="http://schemas.microsoft.com/office/drawing/2014/main" id="{8DBE8039-F067-1A0F-0D1D-F3B24ED636E3}"/>
              </a:ext>
            </a:extLst>
          </p:cNvPr>
          <p:cNvPicPr>
            <a:picLocks noChangeAspect="1"/>
          </p:cNvPicPr>
          <p:nvPr/>
        </p:nvPicPr>
        <p:blipFill>
          <a:blip r:embed="rId5"/>
          <a:stretch>
            <a:fillRect/>
          </a:stretch>
        </p:blipFill>
        <p:spPr>
          <a:xfrm>
            <a:off x="2699527" y="3753334"/>
            <a:ext cx="2181529" cy="2019582"/>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15" name="TextBox 14">
            <a:extLst>
              <a:ext uri="{FF2B5EF4-FFF2-40B4-BE49-F238E27FC236}">
                <a16:creationId xmlns:a16="http://schemas.microsoft.com/office/drawing/2014/main" id="{2C1B43F4-3DD9-3EE0-A4C6-0621DFE12D79}"/>
              </a:ext>
            </a:extLst>
          </p:cNvPr>
          <p:cNvSpPr txBox="1"/>
          <p:nvPr/>
        </p:nvSpPr>
        <p:spPr>
          <a:xfrm>
            <a:off x="3286894" y="5889701"/>
            <a:ext cx="2057351" cy="461665"/>
          </a:xfrm>
          <a:prstGeom prst="rect">
            <a:avLst/>
          </a:prstGeom>
          <a:noFill/>
        </p:spPr>
        <p:txBody>
          <a:bodyPr wrap="square" rtlCol="0">
            <a:spAutoFit/>
          </a:bodyPr>
          <a:lstStyle/>
          <a:p>
            <a:r>
              <a:rPr lang="en-IN" sz="2400" b="1" dirty="0">
                <a:solidFill>
                  <a:schemeClr val="bg1"/>
                </a:solidFill>
              </a:rPr>
              <a:t>Fan</a:t>
            </a:r>
          </a:p>
        </p:txBody>
      </p:sp>
      <p:pic>
        <p:nvPicPr>
          <p:cNvPr id="17" name="Picture 16">
            <a:extLst>
              <a:ext uri="{FF2B5EF4-FFF2-40B4-BE49-F238E27FC236}">
                <a16:creationId xmlns:a16="http://schemas.microsoft.com/office/drawing/2014/main" id="{C490A649-8566-6A10-CA80-59AF98BBB644}"/>
              </a:ext>
            </a:extLst>
          </p:cNvPr>
          <p:cNvPicPr>
            <a:picLocks noChangeAspect="1"/>
          </p:cNvPicPr>
          <p:nvPr/>
        </p:nvPicPr>
        <p:blipFill>
          <a:blip r:embed="rId6"/>
          <a:stretch>
            <a:fillRect/>
          </a:stretch>
        </p:blipFill>
        <p:spPr>
          <a:xfrm>
            <a:off x="6609339" y="3848418"/>
            <a:ext cx="2648925" cy="1829414"/>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18" name="TextBox 17">
            <a:extLst>
              <a:ext uri="{FF2B5EF4-FFF2-40B4-BE49-F238E27FC236}">
                <a16:creationId xmlns:a16="http://schemas.microsoft.com/office/drawing/2014/main" id="{34A5D393-F3D6-F925-019A-68E6A95E53A0}"/>
              </a:ext>
            </a:extLst>
          </p:cNvPr>
          <p:cNvSpPr txBox="1"/>
          <p:nvPr/>
        </p:nvSpPr>
        <p:spPr>
          <a:xfrm>
            <a:off x="7243922" y="5983822"/>
            <a:ext cx="2197897" cy="461665"/>
          </a:xfrm>
          <a:prstGeom prst="rect">
            <a:avLst/>
          </a:prstGeom>
          <a:noFill/>
        </p:spPr>
        <p:txBody>
          <a:bodyPr wrap="square" rtlCol="0">
            <a:spAutoFit/>
          </a:bodyPr>
          <a:lstStyle/>
          <a:p>
            <a:r>
              <a:rPr lang="en-IN" sz="2400" b="1" dirty="0">
                <a:solidFill>
                  <a:schemeClr val="bg1"/>
                </a:solidFill>
              </a:rPr>
              <a:t>Light</a:t>
            </a:r>
          </a:p>
        </p:txBody>
      </p:sp>
    </p:spTree>
    <p:extLst>
      <p:ext uri="{BB962C8B-B14F-4D97-AF65-F5344CB8AC3E}">
        <p14:creationId xmlns:p14="http://schemas.microsoft.com/office/powerpoint/2010/main" val="3653140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D1FE9C74-DD5F-8D7C-0ED5-63AE84A604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9670" y="1261364"/>
            <a:ext cx="6973800" cy="5089348"/>
          </a:xfrm>
          <a:prstGeom prst="rect">
            <a:avLst/>
          </a:prstGeom>
          <a:ln>
            <a:noFill/>
          </a:ln>
          <a:effectLst>
            <a:softEdge rad="112500"/>
          </a:effectLst>
        </p:spPr>
      </p:pic>
      <p:sp>
        <p:nvSpPr>
          <p:cNvPr id="13" name="TextBox 12">
            <a:extLst>
              <a:ext uri="{FF2B5EF4-FFF2-40B4-BE49-F238E27FC236}">
                <a16:creationId xmlns:a16="http://schemas.microsoft.com/office/drawing/2014/main" id="{793DF245-ACFC-BC8F-660A-9BEDB6290961}"/>
              </a:ext>
            </a:extLst>
          </p:cNvPr>
          <p:cNvSpPr txBox="1"/>
          <p:nvPr/>
        </p:nvSpPr>
        <p:spPr>
          <a:xfrm>
            <a:off x="1319134" y="329784"/>
            <a:ext cx="5576341" cy="646331"/>
          </a:xfrm>
          <a:prstGeom prst="rect">
            <a:avLst/>
          </a:prstGeom>
          <a:noFill/>
        </p:spPr>
        <p:txBody>
          <a:bodyPr wrap="square" rtlCol="0">
            <a:spAutoFit/>
          </a:bodyPr>
          <a:lstStyle/>
          <a:p>
            <a:r>
              <a:rPr lang="en-IN" sz="3600" b="1" dirty="0">
                <a:solidFill>
                  <a:schemeClr val="bg1"/>
                </a:solidFill>
              </a:rPr>
              <a:t>PROJECT OUTPUT</a:t>
            </a:r>
          </a:p>
        </p:txBody>
      </p:sp>
    </p:spTree>
    <p:extLst>
      <p:ext uri="{BB962C8B-B14F-4D97-AF65-F5344CB8AC3E}">
        <p14:creationId xmlns:p14="http://schemas.microsoft.com/office/powerpoint/2010/main" val="3019375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0F69A-2086-6E98-527C-3ABCACCD6FBB}"/>
              </a:ext>
            </a:extLst>
          </p:cNvPr>
          <p:cNvSpPr>
            <a:spLocks noGrp="1"/>
          </p:cNvSpPr>
          <p:nvPr>
            <p:ph type="title"/>
          </p:nvPr>
        </p:nvSpPr>
        <p:spPr>
          <a:xfrm>
            <a:off x="1141413" y="198793"/>
            <a:ext cx="9905998" cy="1478570"/>
          </a:xfrm>
        </p:spPr>
        <p:txBody>
          <a:bodyPr/>
          <a:lstStyle/>
          <a:p>
            <a:r>
              <a:rPr lang="en-IN" b="1" dirty="0">
                <a:solidFill>
                  <a:schemeClr val="bg1"/>
                </a:solidFill>
              </a:rPr>
              <a:t>WORKING PRINCIPLE</a:t>
            </a:r>
          </a:p>
        </p:txBody>
      </p:sp>
      <p:sp>
        <p:nvSpPr>
          <p:cNvPr id="3" name="Content Placeholder 2">
            <a:extLst>
              <a:ext uri="{FF2B5EF4-FFF2-40B4-BE49-F238E27FC236}">
                <a16:creationId xmlns:a16="http://schemas.microsoft.com/office/drawing/2014/main" id="{0D000FCB-C2D5-4367-D84C-7813A8625725}"/>
              </a:ext>
            </a:extLst>
          </p:cNvPr>
          <p:cNvSpPr>
            <a:spLocks noGrp="1"/>
          </p:cNvSpPr>
          <p:nvPr>
            <p:ph idx="1"/>
          </p:nvPr>
        </p:nvSpPr>
        <p:spPr>
          <a:xfrm>
            <a:off x="1636089" y="1677363"/>
            <a:ext cx="9905999" cy="3896481"/>
          </a:xfrm>
        </p:spPr>
        <p:txBody>
          <a:bodyPr>
            <a:normAutofit/>
          </a:bodyPr>
          <a:lstStyle/>
          <a:p>
            <a:pPr marL="457200" indent="-425450">
              <a:spcBef>
                <a:spcPts val="0"/>
              </a:spcBef>
              <a:buClr>
                <a:schemeClr val="dk1"/>
              </a:buClr>
              <a:buSzPts val="3100"/>
              <a:buFont typeface="Arial" panose="020B0604020202020204" pitchFamily="34" charset="0"/>
              <a:buChar char="●"/>
            </a:pPr>
            <a:r>
              <a:rPr lang="en-US" sz="3000" b="1" dirty="0">
                <a:solidFill>
                  <a:schemeClr val="bg1"/>
                </a:solidFill>
              </a:rPr>
              <a:t>The system uses RFID to identify students and record their entry and exit. A PIR sensor detects room occupancy, and the ESP32 processes this data to control appliances automatically. All information is sent to a cloud server via </a:t>
            </a:r>
            <a:r>
              <a:rPr lang="en-US" sz="3000" b="1" dirty="0" err="1">
                <a:solidFill>
                  <a:schemeClr val="bg1"/>
                </a:solidFill>
              </a:rPr>
              <a:t>Wifi</a:t>
            </a:r>
            <a:r>
              <a:rPr lang="en-US" sz="3000" b="1" dirty="0">
                <a:solidFill>
                  <a:schemeClr val="bg1"/>
                </a:solidFill>
              </a:rPr>
              <a:t> , allowing the hostel administrator to monitor rooms and student activity in real time.</a:t>
            </a:r>
            <a:endParaRPr lang="en-US" sz="3000" b="1" dirty="0"/>
          </a:p>
          <a:p>
            <a:pPr marL="457200" lvl="0" indent="-425450">
              <a:spcBef>
                <a:spcPts val="0"/>
              </a:spcBef>
              <a:buClr>
                <a:schemeClr val="dk1"/>
              </a:buClr>
              <a:buSzPts val="3100"/>
              <a:buChar char="●"/>
            </a:pPr>
            <a:endParaRPr lang="en-IN" b="1" dirty="0">
              <a:solidFill>
                <a:schemeClr val="bg1"/>
              </a:solidFill>
            </a:endParaRPr>
          </a:p>
        </p:txBody>
      </p:sp>
    </p:spTree>
    <p:extLst>
      <p:ext uri="{BB962C8B-B14F-4D97-AF65-F5344CB8AC3E}">
        <p14:creationId xmlns:p14="http://schemas.microsoft.com/office/powerpoint/2010/main" val="26671451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E1F75-BB2A-20F1-0350-ED34C20F65C3}"/>
              </a:ext>
            </a:extLst>
          </p:cNvPr>
          <p:cNvSpPr>
            <a:spLocks noGrp="1"/>
          </p:cNvSpPr>
          <p:nvPr>
            <p:ph type="title"/>
          </p:nvPr>
        </p:nvSpPr>
        <p:spPr>
          <a:xfrm>
            <a:off x="1141412" y="123842"/>
            <a:ext cx="9905998" cy="1478570"/>
          </a:xfrm>
        </p:spPr>
        <p:txBody>
          <a:bodyPr/>
          <a:lstStyle/>
          <a:p>
            <a:r>
              <a:rPr lang="en-IN" b="1" dirty="0">
                <a:solidFill>
                  <a:schemeClr val="bg1"/>
                </a:solidFill>
              </a:rPr>
              <a:t>Advantages</a:t>
            </a:r>
          </a:p>
        </p:txBody>
      </p:sp>
      <p:sp>
        <p:nvSpPr>
          <p:cNvPr id="3" name="Content Placeholder 2">
            <a:extLst>
              <a:ext uri="{FF2B5EF4-FFF2-40B4-BE49-F238E27FC236}">
                <a16:creationId xmlns:a16="http://schemas.microsoft.com/office/drawing/2014/main" id="{04AE9F79-D986-95FA-FF32-1F165F20B7C0}"/>
              </a:ext>
            </a:extLst>
          </p:cNvPr>
          <p:cNvSpPr>
            <a:spLocks noGrp="1"/>
          </p:cNvSpPr>
          <p:nvPr>
            <p:ph idx="1"/>
          </p:nvPr>
        </p:nvSpPr>
        <p:spPr>
          <a:xfrm>
            <a:off x="2122926" y="1658143"/>
            <a:ext cx="6841192" cy="3541714"/>
          </a:xfrm>
        </p:spPr>
        <p:txBody>
          <a:bodyPr>
            <a:normAutofit lnSpcReduction="10000"/>
          </a:bodyPr>
          <a:lstStyle/>
          <a:p>
            <a:pPr marL="457200" lvl="0" indent="-454612">
              <a:spcBef>
                <a:spcPts val="0"/>
              </a:spcBef>
              <a:buClr>
                <a:schemeClr val="dk1"/>
              </a:buClr>
              <a:buSzPct val="100000"/>
              <a:buChar char="●"/>
            </a:pPr>
            <a:r>
              <a:rPr lang="en-US" sz="2800" b="1" dirty="0">
                <a:solidFill>
                  <a:schemeClr val="dk1"/>
                </a:solidFill>
              </a:rPr>
              <a:t>Reduces manual work</a:t>
            </a:r>
          </a:p>
          <a:p>
            <a:pPr marL="457200" lvl="0" indent="-454612">
              <a:spcBef>
                <a:spcPts val="0"/>
              </a:spcBef>
              <a:buClr>
                <a:schemeClr val="dk1"/>
              </a:buClr>
              <a:buSzPct val="100000"/>
              <a:buChar char="●"/>
            </a:pPr>
            <a:r>
              <a:rPr lang="en-US" sz="2800" b="1" dirty="0">
                <a:solidFill>
                  <a:schemeClr val="dk1"/>
                </a:solidFill>
              </a:rPr>
              <a:t>Improves hostel security</a:t>
            </a:r>
          </a:p>
          <a:p>
            <a:pPr marL="457200" lvl="0" indent="-454612">
              <a:spcBef>
                <a:spcPts val="0"/>
              </a:spcBef>
              <a:buClr>
                <a:schemeClr val="dk1"/>
              </a:buClr>
              <a:buSzPct val="100000"/>
              <a:buChar char="●"/>
            </a:pPr>
            <a:r>
              <a:rPr lang="en-US" sz="2800" b="1" dirty="0">
                <a:solidFill>
                  <a:schemeClr val="dk1"/>
                </a:solidFill>
              </a:rPr>
              <a:t>Saves time and effort</a:t>
            </a:r>
          </a:p>
          <a:p>
            <a:pPr marL="457200" lvl="0" indent="-454612">
              <a:spcBef>
                <a:spcPts val="0"/>
              </a:spcBef>
              <a:buClr>
                <a:schemeClr val="dk1"/>
              </a:buClr>
              <a:buSzPct val="100000"/>
              <a:buChar char="●"/>
            </a:pPr>
            <a:r>
              <a:rPr lang="en-US" sz="2800" b="1" dirty="0">
                <a:solidFill>
                  <a:schemeClr val="dk1"/>
                </a:solidFill>
              </a:rPr>
              <a:t>Enables real-time monitoring</a:t>
            </a:r>
          </a:p>
          <a:p>
            <a:pPr marL="457200" lvl="0" indent="-454612">
              <a:spcBef>
                <a:spcPts val="0"/>
              </a:spcBef>
              <a:buClr>
                <a:schemeClr val="dk1"/>
              </a:buClr>
              <a:buSzPct val="100000"/>
              <a:buChar char="●"/>
            </a:pPr>
            <a:r>
              <a:rPr lang="en-US" sz="2800" b="1" dirty="0">
                <a:solidFill>
                  <a:schemeClr val="dk1"/>
                </a:solidFill>
              </a:rPr>
              <a:t>Minimizes human errors</a:t>
            </a:r>
          </a:p>
          <a:p>
            <a:pPr marL="457200" lvl="0" indent="-454612">
              <a:spcBef>
                <a:spcPts val="0"/>
              </a:spcBef>
              <a:buClr>
                <a:schemeClr val="dk1"/>
              </a:buClr>
              <a:buSzPct val="100000"/>
              <a:buChar char="●"/>
            </a:pPr>
            <a:r>
              <a:rPr lang="en-US" sz="2800" b="1" dirty="0">
                <a:solidFill>
                  <a:schemeClr val="dk1"/>
                </a:solidFill>
              </a:rPr>
              <a:t>Energy efficient system</a:t>
            </a:r>
          </a:p>
          <a:p>
            <a:pPr marL="457200" lvl="0" indent="-454612">
              <a:spcBef>
                <a:spcPts val="0"/>
              </a:spcBef>
              <a:buClr>
                <a:schemeClr val="dk1"/>
              </a:buClr>
              <a:buSzPct val="100000"/>
              <a:buChar char="●"/>
            </a:pPr>
            <a:r>
              <a:rPr lang="en-US" sz="2800" b="1" dirty="0">
                <a:solidFill>
                  <a:schemeClr val="dk1"/>
                </a:solidFill>
              </a:rPr>
              <a:t>Easy to manage large number of students</a:t>
            </a:r>
          </a:p>
          <a:p>
            <a:endParaRPr lang="en-IN" dirty="0"/>
          </a:p>
        </p:txBody>
      </p:sp>
      <p:sp>
        <p:nvSpPr>
          <p:cNvPr id="5" name="AutoShape 4" descr="Image result for Right">
            <a:extLst>
              <a:ext uri="{FF2B5EF4-FFF2-40B4-BE49-F238E27FC236}">
                <a16:creationId xmlns:a16="http://schemas.microsoft.com/office/drawing/2014/main" id="{1A3B1062-04E4-7E2F-7A04-4E1472AF4C08}"/>
              </a:ext>
            </a:extLst>
          </p:cNvPr>
          <p:cNvSpPr>
            <a:spLocks noChangeAspect="1" noChangeArrowheads="1"/>
          </p:cNvSpPr>
          <p:nvPr/>
        </p:nvSpPr>
        <p:spPr bwMode="auto">
          <a:xfrm>
            <a:off x="10065894" y="1852534"/>
            <a:ext cx="845695" cy="84569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60067CF1-CE96-2649-01A9-5EB970481B80}"/>
              </a:ext>
            </a:extLst>
          </p:cNvPr>
          <p:cNvPicPr>
            <a:picLocks noChangeAspect="1"/>
          </p:cNvPicPr>
          <p:nvPr/>
        </p:nvPicPr>
        <p:blipFill>
          <a:blip r:embed="rId2"/>
          <a:stretch>
            <a:fillRect/>
          </a:stretch>
        </p:blipFill>
        <p:spPr>
          <a:xfrm>
            <a:off x="8964118" y="1350077"/>
            <a:ext cx="2683239" cy="2832179"/>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5590401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102DD-E24D-7B8A-FBFB-34369D1051F1}"/>
              </a:ext>
            </a:extLst>
          </p:cNvPr>
          <p:cNvSpPr>
            <a:spLocks noGrp="1"/>
          </p:cNvSpPr>
          <p:nvPr>
            <p:ph type="title"/>
          </p:nvPr>
        </p:nvSpPr>
        <p:spPr/>
        <p:txBody>
          <a:bodyPr/>
          <a:lstStyle/>
          <a:p>
            <a:r>
              <a:rPr lang="en-IN" b="1" dirty="0">
                <a:solidFill>
                  <a:schemeClr val="bg1"/>
                </a:solidFill>
              </a:rPr>
              <a:t>DISADVANTAGES</a:t>
            </a:r>
          </a:p>
        </p:txBody>
      </p:sp>
      <p:sp>
        <p:nvSpPr>
          <p:cNvPr id="3" name="Content Placeholder 2">
            <a:extLst>
              <a:ext uri="{FF2B5EF4-FFF2-40B4-BE49-F238E27FC236}">
                <a16:creationId xmlns:a16="http://schemas.microsoft.com/office/drawing/2014/main" id="{1917D97A-A27C-5A25-CE57-F50F43AFCFDE}"/>
              </a:ext>
            </a:extLst>
          </p:cNvPr>
          <p:cNvSpPr>
            <a:spLocks noGrp="1"/>
          </p:cNvSpPr>
          <p:nvPr>
            <p:ph idx="1"/>
          </p:nvPr>
        </p:nvSpPr>
        <p:spPr>
          <a:xfrm>
            <a:off x="2115773" y="1904713"/>
            <a:ext cx="5379309" cy="3541714"/>
          </a:xfrm>
        </p:spPr>
        <p:txBody>
          <a:bodyPr>
            <a:normAutofit/>
          </a:bodyPr>
          <a:lstStyle/>
          <a:p>
            <a:r>
              <a:rPr lang="en-IN" sz="2800" b="1" dirty="0">
                <a:solidFill>
                  <a:schemeClr val="bg1"/>
                </a:solidFill>
              </a:rPr>
              <a:t>High Initial Cost</a:t>
            </a:r>
          </a:p>
          <a:p>
            <a:r>
              <a:rPr lang="en-IN" sz="2800" b="1" dirty="0">
                <a:solidFill>
                  <a:schemeClr val="bg1"/>
                </a:solidFill>
              </a:rPr>
              <a:t>Dependence on Internet</a:t>
            </a:r>
          </a:p>
          <a:p>
            <a:r>
              <a:rPr lang="en-IN" sz="2800" b="1" dirty="0">
                <a:solidFill>
                  <a:schemeClr val="bg1"/>
                </a:solidFill>
              </a:rPr>
              <a:t>Maintenance Required</a:t>
            </a:r>
          </a:p>
          <a:p>
            <a:r>
              <a:rPr lang="en-IN" sz="2800" b="1" dirty="0">
                <a:solidFill>
                  <a:schemeClr val="bg1"/>
                </a:solidFill>
              </a:rPr>
              <a:t>Power Dependency</a:t>
            </a:r>
          </a:p>
          <a:p>
            <a:r>
              <a:rPr lang="en-IN" sz="2800" b="1" dirty="0">
                <a:solidFill>
                  <a:schemeClr val="bg1"/>
                </a:solidFill>
              </a:rPr>
              <a:t>Accuracy Issues</a:t>
            </a:r>
          </a:p>
        </p:txBody>
      </p:sp>
      <p:pic>
        <p:nvPicPr>
          <p:cNvPr id="5" name="Picture 4">
            <a:extLst>
              <a:ext uri="{FF2B5EF4-FFF2-40B4-BE49-F238E27FC236}">
                <a16:creationId xmlns:a16="http://schemas.microsoft.com/office/drawing/2014/main" id="{785471F1-10F1-6A9A-0F35-A3EC7A9E6ADD}"/>
              </a:ext>
            </a:extLst>
          </p:cNvPr>
          <p:cNvPicPr>
            <a:picLocks noChangeAspect="1"/>
          </p:cNvPicPr>
          <p:nvPr/>
        </p:nvPicPr>
        <p:blipFill>
          <a:blip r:embed="rId2"/>
          <a:stretch>
            <a:fillRect/>
          </a:stretch>
        </p:blipFill>
        <p:spPr>
          <a:xfrm>
            <a:off x="8049719" y="2097088"/>
            <a:ext cx="2683238" cy="2663825"/>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9017115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7D22A-8E72-3908-7935-72AE3E3A5C9A}"/>
              </a:ext>
            </a:extLst>
          </p:cNvPr>
          <p:cNvSpPr>
            <a:spLocks noGrp="1"/>
          </p:cNvSpPr>
          <p:nvPr>
            <p:ph type="title"/>
          </p:nvPr>
        </p:nvSpPr>
        <p:spPr/>
        <p:txBody>
          <a:bodyPr/>
          <a:lstStyle/>
          <a:p>
            <a:r>
              <a:rPr lang="en-IN" b="1" dirty="0">
                <a:solidFill>
                  <a:schemeClr val="bg1"/>
                </a:solidFill>
              </a:rPr>
              <a:t>Application</a:t>
            </a:r>
          </a:p>
        </p:txBody>
      </p:sp>
      <p:sp>
        <p:nvSpPr>
          <p:cNvPr id="3" name="Content Placeholder 2">
            <a:extLst>
              <a:ext uri="{FF2B5EF4-FFF2-40B4-BE49-F238E27FC236}">
                <a16:creationId xmlns:a16="http://schemas.microsoft.com/office/drawing/2014/main" id="{ADC66858-62F1-F636-676B-66976084B017}"/>
              </a:ext>
            </a:extLst>
          </p:cNvPr>
          <p:cNvSpPr>
            <a:spLocks noGrp="1"/>
          </p:cNvSpPr>
          <p:nvPr>
            <p:ph idx="1"/>
          </p:nvPr>
        </p:nvSpPr>
        <p:spPr>
          <a:xfrm>
            <a:off x="1141413" y="2249487"/>
            <a:ext cx="8062548" cy="3541714"/>
          </a:xfrm>
        </p:spPr>
        <p:txBody>
          <a:bodyPr/>
          <a:lstStyle/>
          <a:p>
            <a:r>
              <a:rPr lang="en-US" sz="2800" b="1" dirty="0">
                <a:solidFill>
                  <a:schemeClr val="bg1"/>
                </a:solidFill>
              </a:rPr>
              <a:t>Applications include hostels, colleges, smart homes, offices, hotels, hospitals, and energy management systems where automation, security, and real-time monitoring are required.</a:t>
            </a:r>
          </a:p>
          <a:p>
            <a:endParaRPr lang="en-US" sz="2800" b="1" dirty="0">
              <a:solidFill>
                <a:schemeClr val="bg1"/>
              </a:solidFill>
            </a:endParaRPr>
          </a:p>
          <a:p>
            <a:endParaRPr lang="en-IN" b="1" dirty="0">
              <a:solidFill>
                <a:schemeClr val="bg1"/>
              </a:solidFill>
            </a:endParaRPr>
          </a:p>
        </p:txBody>
      </p:sp>
      <p:pic>
        <p:nvPicPr>
          <p:cNvPr id="5" name="Picture 4">
            <a:extLst>
              <a:ext uri="{FF2B5EF4-FFF2-40B4-BE49-F238E27FC236}">
                <a16:creationId xmlns:a16="http://schemas.microsoft.com/office/drawing/2014/main" id="{B9193771-DF72-D98C-ABE7-15896573041F}"/>
              </a:ext>
            </a:extLst>
          </p:cNvPr>
          <p:cNvPicPr>
            <a:picLocks noChangeAspect="1"/>
          </p:cNvPicPr>
          <p:nvPr/>
        </p:nvPicPr>
        <p:blipFill>
          <a:blip r:embed="rId2"/>
          <a:stretch>
            <a:fillRect/>
          </a:stretch>
        </p:blipFill>
        <p:spPr>
          <a:xfrm>
            <a:off x="9069050" y="2097088"/>
            <a:ext cx="2458387" cy="2803161"/>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3122896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2A3C5-C635-19E3-87DE-E2EFBE988D6B}"/>
              </a:ext>
            </a:extLst>
          </p:cNvPr>
          <p:cNvSpPr>
            <a:spLocks noGrp="1"/>
          </p:cNvSpPr>
          <p:nvPr>
            <p:ph type="title"/>
          </p:nvPr>
        </p:nvSpPr>
        <p:spPr>
          <a:xfrm>
            <a:off x="961531" y="108852"/>
            <a:ext cx="9905998" cy="1478570"/>
          </a:xfrm>
        </p:spPr>
        <p:txBody>
          <a:bodyPr/>
          <a:lstStyle/>
          <a:p>
            <a:r>
              <a:rPr lang="en-IN" b="1" dirty="0">
                <a:solidFill>
                  <a:schemeClr val="bg1"/>
                </a:solidFill>
              </a:rPr>
              <a:t>CONCLUSTION</a:t>
            </a:r>
          </a:p>
        </p:txBody>
      </p:sp>
      <p:sp>
        <p:nvSpPr>
          <p:cNvPr id="3" name="Content Placeholder 2">
            <a:extLst>
              <a:ext uri="{FF2B5EF4-FFF2-40B4-BE49-F238E27FC236}">
                <a16:creationId xmlns:a16="http://schemas.microsoft.com/office/drawing/2014/main" id="{8BD0DD72-1127-731E-0124-4DB9FA17499D}"/>
              </a:ext>
            </a:extLst>
          </p:cNvPr>
          <p:cNvSpPr>
            <a:spLocks noGrp="1"/>
          </p:cNvSpPr>
          <p:nvPr>
            <p:ph idx="1"/>
          </p:nvPr>
        </p:nvSpPr>
        <p:spPr>
          <a:xfrm>
            <a:off x="1143000" y="1410038"/>
            <a:ext cx="9905999" cy="2607326"/>
          </a:xfrm>
        </p:spPr>
        <p:txBody>
          <a:bodyPr>
            <a:normAutofit/>
          </a:bodyPr>
          <a:lstStyle/>
          <a:p>
            <a:r>
              <a:rPr lang="en-US" sz="2800" b="1" dirty="0">
                <a:solidFill>
                  <a:schemeClr val="bg1"/>
                </a:solidFill>
              </a:rPr>
              <a:t>This system significantly reduces manual effort, improves security, and ensures optimal energy utilization by automatically controlling electrical devices based on real-time room usage.</a:t>
            </a:r>
            <a:endParaRPr lang="en-IN" sz="2800" b="1" dirty="0">
              <a:solidFill>
                <a:schemeClr val="bg1"/>
              </a:solidFill>
            </a:endParaRPr>
          </a:p>
        </p:txBody>
      </p:sp>
      <p:pic>
        <p:nvPicPr>
          <p:cNvPr id="4" name="Picture 3" descr="Message Images - Free Download on Freepik">
            <a:extLst>
              <a:ext uri="{FF2B5EF4-FFF2-40B4-BE49-F238E27FC236}">
                <a16:creationId xmlns:a16="http://schemas.microsoft.com/office/drawing/2014/main" id="{192F73C5-BD95-2AA6-E2C1-775D59D233C4}"/>
              </a:ext>
            </a:extLst>
          </p:cNvPr>
          <p:cNvPicPr>
            <a:picLocks noChangeAspect="1" noChangeArrowheads="1"/>
          </p:cNvPicPr>
          <p:nvPr/>
        </p:nvPicPr>
        <p:blipFill>
          <a:blip r:embed="rId2"/>
          <a:srcRect l="21081" t="17297" r="20541" b="24324"/>
          <a:stretch>
            <a:fillRect/>
          </a:stretch>
        </p:blipFill>
        <p:spPr bwMode="auto">
          <a:xfrm>
            <a:off x="4542930" y="3901190"/>
            <a:ext cx="2743200" cy="243965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3302875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073DA-5FF4-AA1B-116B-164B1B7C92A4}"/>
              </a:ext>
            </a:extLst>
          </p:cNvPr>
          <p:cNvSpPr>
            <a:spLocks noGrp="1"/>
          </p:cNvSpPr>
          <p:nvPr>
            <p:ph type="title"/>
          </p:nvPr>
        </p:nvSpPr>
        <p:spPr/>
        <p:txBody>
          <a:bodyPr/>
          <a:lstStyle/>
          <a:p>
            <a:r>
              <a:rPr lang="en-IN" b="1" dirty="0">
                <a:solidFill>
                  <a:schemeClr val="bg1"/>
                </a:solidFill>
              </a:rPr>
              <a:t>FUTURE SCOPE</a:t>
            </a:r>
          </a:p>
        </p:txBody>
      </p:sp>
      <p:sp>
        <p:nvSpPr>
          <p:cNvPr id="3" name="Content Placeholder 2">
            <a:extLst>
              <a:ext uri="{FF2B5EF4-FFF2-40B4-BE49-F238E27FC236}">
                <a16:creationId xmlns:a16="http://schemas.microsoft.com/office/drawing/2014/main" id="{E08A353F-194B-7EF6-279E-81C5DA2ABD52}"/>
              </a:ext>
            </a:extLst>
          </p:cNvPr>
          <p:cNvSpPr>
            <a:spLocks noGrp="1"/>
          </p:cNvSpPr>
          <p:nvPr>
            <p:ph idx="1"/>
          </p:nvPr>
        </p:nvSpPr>
        <p:spPr>
          <a:xfrm>
            <a:off x="1141413" y="2249487"/>
            <a:ext cx="5784044" cy="3541714"/>
          </a:xfrm>
        </p:spPr>
        <p:txBody>
          <a:bodyPr>
            <a:normAutofit/>
          </a:bodyPr>
          <a:lstStyle/>
          <a:p>
            <a:r>
              <a:rPr lang="en-IN" sz="2800" b="1" dirty="0">
                <a:solidFill>
                  <a:schemeClr val="bg1"/>
                </a:solidFill>
              </a:rPr>
              <a:t>Improved Network Technologies</a:t>
            </a:r>
          </a:p>
          <a:p>
            <a:r>
              <a:rPr lang="en-IN" sz="2800" b="1" dirty="0">
                <a:solidFill>
                  <a:schemeClr val="bg1"/>
                </a:solidFill>
              </a:rPr>
              <a:t>Scalability to Smart Campus</a:t>
            </a:r>
          </a:p>
          <a:p>
            <a:r>
              <a:rPr lang="en-IN" sz="2800" b="1" dirty="0">
                <a:solidFill>
                  <a:schemeClr val="bg1"/>
                </a:solidFill>
              </a:rPr>
              <a:t>Smart Environment Control</a:t>
            </a:r>
          </a:p>
          <a:p>
            <a:r>
              <a:rPr lang="en-IN" sz="2800" b="1" dirty="0">
                <a:solidFill>
                  <a:schemeClr val="bg1"/>
                </a:solidFill>
              </a:rPr>
              <a:t>Mobile App Development</a:t>
            </a:r>
          </a:p>
        </p:txBody>
      </p:sp>
      <p:pic>
        <p:nvPicPr>
          <p:cNvPr id="4" name="Picture 3" descr="171+ Thousand Files Drawing Royalty-Free Images, Stock Photos &amp; Pictures |  Shutterstock">
            <a:extLst>
              <a:ext uri="{FF2B5EF4-FFF2-40B4-BE49-F238E27FC236}">
                <a16:creationId xmlns:a16="http://schemas.microsoft.com/office/drawing/2014/main" id="{95090781-1B63-7835-109B-044B7B9B8484}"/>
              </a:ext>
            </a:extLst>
          </p:cNvPr>
          <p:cNvPicPr>
            <a:picLocks noChangeAspect="1" noChangeArrowheads="1"/>
          </p:cNvPicPr>
          <p:nvPr/>
        </p:nvPicPr>
        <p:blipFill>
          <a:blip r:embed="rId2"/>
          <a:srcRect r="4615" b="11429"/>
          <a:stretch>
            <a:fillRect/>
          </a:stretch>
        </p:blipFill>
        <p:spPr bwMode="auto">
          <a:xfrm>
            <a:off x="7615003" y="1892508"/>
            <a:ext cx="3432408" cy="27432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1980940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E3DE77-45D5-18B6-4839-F1C5D84C5FBA}"/>
              </a:ext>
            </a:extLst>
          </p:cNvPr>
          <p:cNvSpPr>
            <a:spLocks noGrp="1"/>
          </p:cNvSpPr>
          <p:nvPr>
            <p:ph type="title"/>
          </p:nvPr>
        </p:nvSpPr>
        <p:spPr/>
        <p:txBody>
          <a:bodyPr/>
          <a:lstStyle/>
          <a:p>
            <a:r>
              <a:rPr lang="en-IN" b="1" dirty="0">
                <a:solidFill>
                  <a:schemeClr val="bg1"/>
                </a:solidFill>
              </a:rPr>
              <a:t>System overview</a:t>
            </a:r>
          </a:p>
        </p:txBody>
      </p:sp>
      <p:sp>
        <p:nvSpPr>
          <p:cNvPr id="4" name="Rectangle 1">
            <a:extLst>
              <a:ext uri="{FF2B5EF4-FFF2-40B4-BE49-F238E27FC236}">
                <a16:creationId xmlns:a16="http://schemas.microsoft.com/office/drawing/2014/main" id="{0F422AD3-9870-7B7C-B598-F0B476F78EEB}"/>
              </a:ext>
            </a:extLst>
          </p:cNvPr>
          <p:cNvSpPr>
            <a:spLocks noGrp="1" noChangeArrowheads="1"/>
          </p:cNvSpPr>
          <p:nvPr>
            <p:ph idx="1"/>
          </p:nvPr>
        </p:nvSpPr>
        <p:spPr bwMode="auto">
          <a:xfrm>
            <a:off x="1871647" y="1772621"/>
            <a:ext cx="729805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bg1"/>
                </a:solidFill>
                <a:effectLst/>
                <a:latin typeface="Arial" panose="020B0604020202020204" pitchFamily="34" charset="0"/>
              </a:rPr>
              <a:t>ESP32-based smart hostel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bg1"/>
                </a:solidFill>
                <a:effectLst/>
                <a:latin typeface="Arial" panose="020B0604020202020204" pitchFamily="34" charset="0"/>
              </a:rPr>
              <a:t>Uses RFID for student identification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bg1"/>
                </a:solidFill>
                <a:effectLst/>
                <a:latin typeface="Arial" panose="020B0604020202020204" pitchFamily="34" charset="0"/>
              </a:rPr>
              <a:t>PIR sensor for occupancy detection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bg1"/>
                </a:solidFill>
                <a:effectLst/>
                <a:latin typeface="Arial" panose="020B0604020202020204" pitchFamily="34" charset="0"/>
              </a:rPr>
              <a:t>Automatic control of lights and fan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bg1"/>
                </a:solidFill>
                <a:effectLst/>
                <a:latin typeface="Arial" panose="020B0604020202020204" pitchFamily="34" charset="0"/>
              </a:rPr>
              <a:t>Data sent to cloud via </a:t>
            </a:r>
            <a:r>
              <a:rPr kumimoji="0" lang="en-US" altLang="en-US" sz="2800" b="1" i="0" u="none" strike="noStrike" cap="none" normalizeH="0" baseline="0" dirty="0" err="1">
                <a:ln>
                  <a:noFill/>
                </a:ln>
                <a:solidFill>
                  <a:schemeClr val="bg1"/>
                </a:solidFill>
                <a:effectLst/>
                <a:latin typeface="Arial" panose="020B0604020202020204" pitchFamily="34" charset="0"/>
              </a:rPr>
              <a:t>WiFi</a:t>
            </a:r>
            <a:r>
              <a:rPr kumimoji="0" lang="en-US" altLang="en-US" sz="2800" b="1" i="0" u="none" strike="noStrike" cap="none" normalizeH="0" baseline="0" dirty="0">
                <a:ln>
                  <a:noFill/>
                </a:ln>
                <a:solidFill>
                  <a:schemeClr val="bg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800" b="1" i="0" u="none" strike="noStrike" cap="none" normalizeH="0" baseline="0" dirty="0">
                <a:ln>
                  <a:noFill/>
                </a:ln>
                <a:solidFill>
                  <a:schemeClr val="bg1"/>
                </a:solidFill>
                <a:effectLst/>
                <a:latin typeface="Arial" panose="020B0604020202020204" pitchFamily="34" charset="0"/>
              </a:rPr>
              <a:t>Enables real-time remote monitoring </a:t>
            </a:r>
          </a:p>
        </p:txBody>
      </p:sp>
      <p:pic>
        <p:nvPicPr>
          <p:cNvPr id="8" name="Picture 7">
            <a:extLst>
              <a:ext uri="{FF2B5EF4-FFF2-40B4-BE49-F238E27FC236}">
                <a16:creationId xmlns:a16="http://schemas.microsoft.com/office/drawing/2014/main" id="{0CEC318C-64D3-ED74-CEA9-11713565C512}"/>
              </a:ext>
            </a:extLst>
          </p:cNvPr>
          <p:cNvPicPr>
            <a:picLocks noChangeAspect="1"/>
          </p:cNvPicPr>
          <p:nvPr/>
        </p:nvPicPr>
        <p:blipFill>
          <a:blip r:embed="rId2"/>
          <a:stretch>
            <a:fillRect/>
          </a:stretch>
        </p:blipFill>
        <p:spPr>
          <a:xfrm>
            <a:off x="8868986" y="2435843"/>
            <a:ext cx="2638793" cy="246731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7207869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81D2923-4274-CB8F-ED42-6FA644D10222}"/>
              </a:ext>
            </a:extLst>
          </p:cNvPr>
          <p:cNvSpPr txBox="1"/>
          <p:nvPr/>
        </p:nvSpPr>
        <p:spPr>
          <a:xfrm>
            <a:off x="2728210" y="2788171"/>
            <a:ext cx="6520721" cy="1569660"/>
          </a:xfrm>
          <a:prstGeom prst="rect">
            <a:avLst/>
          </a:prstGeom>
          <a:noFill/>
        </p:spPr>
        <p:txBody>
          <a:bodyPr wrap="square" rtlCol="0">
            <a:spAutoFit/>
          </a:bodyPr>
          <a:lstStyle/>
          <a:p>
            <a:pPr algn="ctr"/>
            <a:r>
              <a:rPr lang="en-IN" sz="9600" dirty="0">
                <a:solidFill>
                  <a:schemeClr val="bg1"/>
                </a:solidFill>
              </a:rPr>
              <a:t>Thank You!...</a:t>
            </a:r>
          </a:p>
        </p:txBody>
      </p:sp>
    </p:spTree>
    <p:extLst>
      <p:ext uri="{BB962C8B-B14F-4D97-AF65-F5344CB8AC3E}">
        <p14:creationId xmlns:p14="http://schemas.microsoft.com/office/powerpoint/2010/main" val="5883866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TM04033919[[fn=Circuit]]</Template>
  <TotalTime>228</TotalTime>
  <Words>505</Words>
  <Application>Microsoft Office PowerPoint</Application>
  <PresentationFormat>Widescreen</PresentationFormat>
  <Paragraphs>76</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Roboto</vt:lpstr>
      <vt:lpstr>Times New Roman</vt:lpstr>
      <vt:lpstr>Tw Cen MT</vt:lpstr>
      <vt:lpstr>Circuit</vt:lpstr>
      <vt:lpstr>PowerPoint Presentation</vt:lpstr>
      <vt:lpstr>PSN INSTITUTE OF TECHNOLOGY AND SCIENCE </vt:lpstr>
      <vt:lpstr>Introduction:</vt:lpstr>
      <vt:lpstr>Existing System Challenges:</vt:lpstr>
      <vt:lpstr>Smart solution design:</vt:lpstr>
      <vt:lpstr>Components required</vt:lpstr>
      <vt:lpstr>PowerPoint Presentation</vt:lpstr>
      <vt:lpstr>PowerPoint Presentation</vt:lpstr>
      <vt:lpstr>WORKING PRINCIPLE</vt:lpstr>
      <vt:lpstr>Advantages</vt:lpstr>
      <vt:lpstr>DISADVANTAGES</vt:lpstr>
      <vt:lpstr>Application</vt:lpstr>
      <vt:lpstr>CONCLUSTION</vt:lpstr>
      <vt:lpstr>FUTURE SCOPE</vt:lpstr>
      <vt:lpstr>System overview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Anitha S</dc:creator>
  <cp:lastModifiedBy>S0381416</cp:lastModifiedBy>
  <cp:revision>5</cp:revision>
  <dcterms:created xsi:type="dcterms:W3CDTF">2026-04-19T16:56:14Z</dcterms:created>
  <dcterms:modified xsi:type="dcterms:W3CDTF">2026-04-24T05:54:49Z</dcterms:modified>
</cp:coreProperties>
</file>